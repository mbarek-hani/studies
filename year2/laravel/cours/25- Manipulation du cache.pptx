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61" r:id="rId5"/>
    <p:sldId id="262" r:id="rId6"/>
    <p:sldId id="263" r:id="rId7"/>
    <p:sldId id="264" r:id="rId8"/>
    <p:sldId id="265" r:id="rId9"/>
    <p:sldId id="259" r:id="rId10"/>
    <p:sldId id="266" r:id="rId11"/>
    <p:sldId id="267" r:id="rId12"/>
    <p:sldId id="268" r:id="rId13"/>
    <p:sldId id="269" r:id="rId14"/>
    <p:sldId id="270" r:id="rId15"/>
    <p:sldId id="271" r:id="rId16"/>
    <p:sldId id="272" r:id="rId17"/>
    <p:sldId id="274" r:id="rId18"/>
    <p:sldId id="275" r:id="rId19"/>
    <p:sldId id="276" r:id="rId20"/>
    <p:sldId id="277" r:id="rId21"/>
    <p:sldId id="278"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CC45F7-D7B0-4DD5-B269-9442F9516C4D}" v="1" dt="2025-01-03T07:13:19.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UBAKER ADDY" userId="9c09b5bc-cd4d-426c-8731-ba90d9d87c1e" providerId="ADAL" clId="{1E7F2F6C-BA3C-406E-87F9-3265CBB45F4E}"/>
    <pc:docChg chg="undo custSel addSld delSld modSld sldOrd">
      <pc:chgData name="BOUBAKER ADDY" userId="9c09b5bc-cd4d-426c-8731-ba90d9d87c1e" providerId="ADAL" clId="{1E7F2F6C-BA3C-406E-87F9-3265CBB45F4E}" dt="2022-12-21T18:37:57.233" v="267" actId="47"/>
      <pc:docMkLst>
        <pc:docMk/>
      </pc:docMkLst>
      <pc:sldChg chg="del">
        <pc:chgData name="BOUBAKER ADDY" userId="9c09b5bc-cd4d-426c-8731-ba90d9d87c1e" providerId="ADAL" clId="{1E7F2F6C-BA3C-406E-87F9-3265CBB45F4E}" dt="2022-12-21T18:37:57.233" v="267" actId="47"/>
        <pc:sldMkLst>
          <pc:docMk/>
          <pc:sldMk cId="1097582309" sldId="260"/>
        </pc:sldMkLst>
      </pc:sldChg>
      <pc:sldChg chg="modSp mod">
        <pc:chgData name="BOUBAKER ADDY" userId="9c09b5bc-cd4d-426c-8731-ba90d9d87c1e" providerId="ADAL" clId="{1E7F2F6C-BA3C-406E-87F9-3265CBB45F4E}" dt="2022-12-21T17:59:30.666" v="1" actId="113"/>
        <pc:sldMkLst>
          <pc:docMk/>
          <pc:sldMk cId="4132364674" sldId="265"/>
        </pc:sldMkLst>
      </pc:sldChg>
      <pc:sldChg chg="addSp modSp add mod ord">
        <pc:chgData name="BOUBAKER ADDY" userId="9c09b5bc-cd4d-426c-8731-ba90d9d87c1e" providerId="ADAL" clId="{1E7F2F6C-BA3C-406E-87F9-3265CBB45F4E}" dt="2022-12-21T18:01:56.835" v="17" actId="113"/>
        <pc:sldMkLst>
          <pc:docMk/>
          <pc:sldMk cId="2360454974" sldId="266"/>
        </pc:sldMkLst>
      </pc:sldChg>
      <pc:sldChg chg="modSp add mod">
        <pc:chgData name="BOUBAKER ADDY" userId="9c09b5bc-cd4d-426c-8731-ba90d9d87c1e" providerId="ADAL" clId="{1E7F2F6C-BA3C-406E-87F9-3265CBB45F4E}" dt="2022-12-21T18:05:17.268" v="30" actId="20577"/>
        <pc:sldMkLst>
          <pc:docMk/>
          <pc:sldMk cId="2498307420" sldId="267"/>
        </pc:sldMkLst>
      </pc:sldChg>
      <pc:sldChg chg="modSp add mod">
        <pc:chgData name="BOUBAKER ADDY" userId="9c09b5bc-cd4d-426c-8731-ba90d9d87c1e" providerId="ADAL" clId="{1E7F2F6C-BA3C-406E-87F9-3265CBB45F4E}" dt="2022-12-21T18:06:27.448" v="36"/>
        <pc:sldMkLst>
          <pc:docMk/>
          <pc:sldMk cId="852035542" sldId="268"/>
        </pc:sldMkLst>
      </pc:sldChg>
      <pc:sldChg chg="modSp add mod">
        <pc:chgData name="BOUBAKER ADDY" userId="9c09b5bc-cd4d-426c-8731-ba90d9d87c1e" providerId="ADAL" clId="{1E7F2F6C-BA3C-406E-87F9-3265CBB45F4E}" dt="2022-12-21T18:08:30.445" v="44" actId="20577"/>
        <pc:sldMkLst>
          <pc:docMk/>
          <pc:sldMk cId="2897269578" sldId="269"/>
        </pc:sldMkLst>
      </pc:sldChg>
      <pc:sldChg chg="modSp add mod">
        <pc:chgData name="BOUBAKER ADDY" userId="9c09b5bc-cd4d-426c-8731-ba90d9d87c1e" providerId="ADAL" clId="{1E7F2F6C-BA3C-406E-87F9-3265CBB45F4E}" dt="2022-12-21T18:10:13.926" v="61"/>
        <pc:sldMkLst>
          <pc:docMk/>
          <pc:sldMk cId="2715599655" sldId="270"/>
        </pc:sldMkLst>
      </pc:sldChg>
      <pc:sldChg chg="modSp add mod">
        <pc:chgData name="BOUBAKER ADDY" userId="9c09b5bc-cd4d-426c-8731-ba90d9d87c1e" providerId="ADAL" clId="{1E7F2F6C-BA3C-406E-87F9-3265CBB45F4E}" dt="2022-12-21T18:12:35.501" v="73" actId="20577"/>
        <pc:sldMkLst>
          <pc:docMk/>
          <pc:sldMk cId="4155160188" sldId="271"/>
        </pc:sldMkLst>
      </pc:sldChg>
      <pc:sldChg chg="modSp add mod">
        <pc:chgData name="BOUBAKER ADDY" userId="9c09b5bc-cd4d-426c-8731-ba90d9d87c1e" providerId="ADAL" clId="{1E7F2F6C-BA3C-406E-87F9-3265CBB45F4E}" dt="2022-12-21T18:14:09.686" v="81"/>
        <pc:sldMkLst>
          <pc:docMk/>
          <pc:sldMk cId="720264795" sldId="272"/>
        </pc:sldMkLst>
      </pc:sldChg>
      <pc:sldChg chg="add">
        <pc:chgData name="BOUBAKER ADDY" userId="9c09b5bc-cd4d-426c-8731-ba90d9d87c1e" providerId="ADAL" clId="{1E7F2F6C-BA3C-406E-87F9-3265CBB45F4E}" dt="2022-12-21T18:14:18.300" v="82" actId="2890"/>
        <pc:sldMkLst>
          <pc:docMk/>
          <pc:sldMk cId="3173067005" sldId="273"/>
        </pc:sldMkLst>
      </pc:sldChg>
      <pc:sldChg chg="addSp modSp add mod">
        <pc:chgData name="BOUBAKER ADDY" userId="9c09b5bc-cd4d-426c-8731-ba90d9d87c1e" providerId="ADAL" clId="{1E7F2F6C-BA3C-406E-87F9-3265CBB45F4E}" dt="2022-12-21T18:22:14.376" v="113" actId="6549"/>
        <pc:sldMkLst>
          <pc:docMk/>
          <pc:sldMk cId="4098754207" sldId="274"/>
        </pc:sldMkLst>
      </pc:sldChg>
      <pc:sldChg chg="modSp add mod">
        <pc:chgData name="BOUBAKER ADDY" userId="9c09b5bc-cd4d-426c-8731-ba90d9d87c1e" providerId="ADAL" clId="{1E7F2F6C-BA3C-406E-87F9-3265CBB45F4E}" dt="2022-12-21T18:25:33.004" v="127"/>
        <pc:sldMkLst>
          <pc:docMk/>
          <pc:sldMk cId="4213584601" sldId="275"/>
        </pc:sldMkLst>
      </pc:sldChg>
      <pc:sldChg chg="modSp add mod">
        <pc:chgData name="BOUBAKER ADDY" userId="9c09b5bc-cd4d-426c-8731-ba90d9d87c1e" providerId="ADAL" clId="{1E7F2F6C-BA3C-406E-87F9-3265CBB45F4E}" dt="2022-12-21T18:27:05.619" v="140"/>
        <pc:sldMkLst>
          <pc:docMk/>
          <pc:sldMk cId="790658949" sldId="276"/>
        </pc:sldMkLst>
      </pc:sldChg>
      <pc:sldChg chg="modSp add mod">
        <pc:chgData name="BOUBAKER ADDY" userId="9c09b5bc-cd4d-426c-8731-ba90d9d87c1e" providerId="ADAL" clId="{1E7F2F6C-BA3C-406E-87F9-3265CBB45F4E}" dt="2022-12-21T18:30:35.930" v="185" actId="1035"/>
        <pc:sldMkLst>
          <pc:docMk/>
          <pc:sldMk cId="257266650" sldId="277"/>
        </pc:sldMkLst>
      </pc:sldChg>
      <pc:sldChg chg="modSp add mod">
        <pc:chgData name="BOUBAKER ADDY" userId="9c09b5bc-cd4d-426c-8731-ba90d9d87c1e" providerId="ADAL" clId="{1E7F2F6C-BA3C-406E-87F9-3265CBB45F4E}" dt="2022-12-21T18:36:20.914" v="266" actId="20577"/>
        <pc:sldMkLst>
          <pc:docMk/>
          <pc:sldMk cId="663851723" sldId="27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6654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516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1337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6214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0653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7238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0972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6428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6694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2876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17-Feb-26</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‹N°›</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032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17-Feb-26</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‹N°›</a:t>
            </a:fld>
            <a:endParaRPr lang="en-US"/>
          </a:p>
        </p:txBody>
      </p:sp>
    </p:spTree>
    <p:extLst>
      <p:ext uri="{BB962C8B-B14F-4D97-AF65-F5344CB8AC3E}">
        <p14:creationId xmlns:p14="http://schemas.microsoft.com/office/powerpoint/2010/main" val="28951410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7278C5-34E8-4293-BE47-73B18483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4" name="Picture 3">
            <a:extLst>
              <a:ext uri="{FF2B5EF4-FFF2-40B4-BE49-F238E27FC236}">
                <a16:creationId xmlns:a16="http://schemas.microsoft.com/office/drawing/2014/main" id="{14F5A9A0-3329-2DD6-22C5-53FBB19AA67E}"/>
              </a:ext>
            </a:extLst>
          </p:cNvPr>
          <p:cNvPicPr>
            <a:picLocks noChangeAspect="1"/>
          </p:cNvPicPr>
          <p:nvPr/>
        </p:nvPicPr>
        <p:blipFill rotWithShape="1">
          <a:blip r:embed="rId2">
            <a:duotone>
              <a:schemeClr val="accent1">
                <a:shade val="45000"/>
                <a:satMod val="135000"/>
              </a:schemeClr>
              <a:prstClr val="white"/>
            </a:duotone>
            <a:alphaModFix amt="35000"/>
          </a:blip>
          <a:srcRect t="7734" b="1904"/>
          <a:stretch/>
        </p:blipFill>
        <p:spPr>
          <a:xfrm>
            <a:off x="20" y="-8877"/>
            <a:ext cx="12191980" cy="6858000"/>
          </a:xfrm>
          <a:prstGeom prst="rect">
            <a:avLst/>
          </a:prstGeom>
        </p:spPr>
      </p:pic>
      <p:sp>
        <p:nvSpPr>
          <p:cNvPr id="2" name="Titre 1">
            <a:extLst>
              <a:ext uri="{FF2B5EF4-FFF2-40B4-BE49-F238E27FC236}">
                <a16:creationId xmlns:a16="http://schemas.microsoft.com/office/drawing/2014/main" id="{DC20FF67-F28D-0FD6-9261-E85D1C16C872}"/>
              </a:ext>
            </a:extLst>
          </p:cNvPr>
          <p:cNvSpPr>
            <a:spLocks noGrp="1"/>
          </p:cNvSpPr>
          <p:nvPr>
            <p:ph type="ctrTitle"/>
          </p:nvPr>
        </p:nvSpPr>
        <p:spPr>
          <a:xfrm>
            <a:off x="1256275" y="2271449"/>
            <a:ext cx="9679449" cy="2847058"/>
          </a:xfrm>
        </p:spPr>
        <p:txBody>
          <a:bodyPr anchor="b">
            <a:normAutofit/>
          </a:bodyPr>
          <a:lstStyle/>
          <a:p>
            <a:r>
              <a:rPr lang="en-US" sz="7200" dirty="0">
                <a:solidFill>
                  <a:srgbClr val="FFFFFF"/>
                </a:solidFill>
              </a:rPr>
              <a:t>Laravel cache</a:t>
            </a:r>
            <a:endParaRPr lang="fr-FR" sz="7200" dirty="0">
              <a:solidFill>
                <a:srgbClr val="FFFFFF"/>
              </a:solidFill>
            </a:endParaRPr>
          </a:p>
        </p:txBody>
      </p:sp>
      <p:sp>
        <p:nvSpPr>
          <p:cNvPr id="3" name="Sous-titre 2">
            <a:extLst>
              <a:ext uri="{FF2B5EF4-FFF2-40B4-BE49-F238E27FC236}">
                <a16:creationId xmlns:a16="http://schemas.microsoft.com/office/drawing/2014/main" id="{6236C768-0175-2680-3CB7-84E0D66D2BFA}"/>
              </a:ext>
            </a:extLst>
          </p:cNvPr>
          <p:cNvSpPr>
            <a:spLocks noGrp="1"/>
          </p:cNvSpPr>
          <p:nvPr>
            <p:ph type="subTitle" idx="1"/>
          </p:nvPr>
        </p:nvSpPr>
        <p:spPr>
          <a:xfrm>
            <a:off x="1256275" y="5098254"/>
            <a:ext cx="9679449" cy="750259"/>
          </a:xfrm>
        </p:spPr>
        <p:txBody>
          <a:bodyPr anchor="ctr">
            <a:normAutofit/>
          </a:bodyPr>
          <a:lstStyle/>
          <a:p>
            <a:endParaRPr lang="fr-FR" sz="2000">
              <a:solidFill>
                <a:srgbClr val="FFFFFF"/>
              </a:solidFill>
            </a:endParaRPr>
          </a:p>
        </p:txBody>
      </p:sp>
      <p:cxnSp>
        <p:nvCxnSpPr>
          <p:cNvPr id="13" name="Straight Connector 1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Tree>
    <p:extLst>
      <p:ext uri="{BB962C8B-B14F-4D97-AF65-F5344CB8AC3E}">
        <p14:creationId xmlns:p14="http://schemas.microsoft.com/office/powerpoint/2010/main" val="345926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lstStyle/>
          <a:p>
            <a:r>
              <a:rPr lang="en-US" b="1" dirty="0"/>
              <a:t>Introduction</a:t>
            </a:r>
            <a:endParaRPr lang="fr-FR" b="1" dirty="0"/>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Certaines des tâches d'extraction ou de traitement des données effectuées par votre application peuvent être gourmandes en ressources CPU ou prendre plusieurs secondes. Dans ce cas, il est courant de mettre en cache les données récupérées pendant un certain temps afin qu'elles puissent être récupérées rapidement lors de demandes ultérieures pour les mêmes données. Les données mises en cache sont généralement stockées dans un magasin de données très rapide tel que </a:t>
            </a:r>
            <a:r>
              <a:rPr lang="fr-FR" sz="3200" b="1" dirty="0">
                <a:latin typeface="Garamond" panose="02020404030301010803" pitchFamily="18" charset="0"/>
              </a:rPr>
              <a:t>Memcached</a:t>
            </a:r>
            <a:r>
              <a:rPr lang="fr-FR" sz="3200" dirty="0">
                <a:latin typeface="Garamond" panose="02020404030301010803" pitchFamily="18" charset="0"/>
              </a:rPr>
              <a:t> ou </a:t>
            </a:r>
            <a:r>
              <a:rPr lang="fr-FR" sz="3200" b="1" dirty="0">
                <a:latin typeface="Garamond" panose="02020404030301010803" pitchFamily="18" charset="0"/>
              </a:rPr>
              <a:t>Redis</a:t>
            </a:r>
            <a:r>
              <a:rPr lang="fr-FR" sz="3200" dirty="0">
                <a:latin typeface="Garamond" panose="02020404030301010803" pitchFamily="18" charset="0"/>
              </a:rPr>
              <a:t>.</a:t>
            </a:r>
          </a:p>
        </p:txBody>
      </p:sp>
      <p:pic>
        <p:nvPicPr>
          <p:cNvPr id="1026" name="Picture 2" descr="Picture background">
            <a:extLst>
              <a:ext uri="{FF2B5EF4-FFF2-40B4-BE49-F238E27FC236}">
                <a16:creationId xmlns:a16="http://schemas.microsoft.com/office/drawing/2014/main" id="{B47261BD-2BFA-39A7-1914-68004AB50B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6989" y="5038498"/>
            <a:ext cx="1366720" cy="13667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icture background">
            <a:extLst>
              <a:ext uri="{FF2B5EF4-FFF2-40B4-BE49-F238E27FC236}">
                <a16:creationId xmlns:a16="http://schemas.microsoft.com/office/drawing/2014/main" id="{83F4D079-A1FA-6968-27B3-0866F24FE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591" y="5112434"/>
            <a:ext cx="3648731" cy="121884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icture background">
            <a:extLst>
              <a:ext uri="{FF2B5EF4-FFF2-40B4-BE49-F238E27FC236}">
                <a16:creationId xmlns:a16="http://schemas.microsoft.com/office/drawing/2014/main" id="{5E23D352-9613-8DF4-4E22-809843829A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4204" y="4823968"/>
            <a:ext cx="4125996" cy="1640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961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C835906-2E20-1310-A859-74CFCEBAA31F}"/>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6000" b="1" i="0" kern="1200" cap="all" baseline="0" dirty="0">
                <a:solidFill>
                  <a:schemeClr val="bg1"/>
                </a:solidFill>
                <a:latin typeface="+mj-lt"/>
                <a:ea typeface="+mj-ea"/>
                <a:cs typeface="+mj-cs"/>
              </a:rPr>
              <a:t>Configuration</a:t>
            </a:r>
          </a:p>
        </p:txBody>
      </p:sp>
      <p:sp>
        <p:nvSpPr>
          <p:cNvPr id="12"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a:p>
        </p:txBody>
      </p:sp>
      <p:sp>
        <p:nvSpPr>
          <p:cNvPr id="14"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16"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sp>
        <p:nvSpPr>
          <p:cNvPr id="18"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endParaRPr lang="en-US"/>
          </a:p>
        </p:txBody>
      </p:sp>
      <p:sp>
        <p:nvSpPr>
          <p:cNvPr id="2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22"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a:p>
        </p:txBody>
      </p:sp>
      <p:cxnSp>
        <p:nvCxnSpPr>
          <p:cNvPr id="24" name="Straight Connector 2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957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lstStyle/>
          <a:p>
            <a:r>
              <a:rPr lang="en-US" b="1" dirty="0"/>
              <a:t>Configuration</a:t>
            </a:r>
            <a:endParaRPr lang="fr-FR" b="1" dirty="0"/>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Le fichier de configuration du cache de votre application se trouve à l'adresse </a:t>
            </a:r>
            <a:r>
              <a:rPr lang="fr-FR" sz="3200" b="1" dirty="0">
                <a:latin typeface="Garamond" panose="02020404030301010803" pitchFamily="18" charset="0"/>
              </a:rPr>
              <a:t>config/</a:t>
            </a:r>
            <a:r>
              <a:rPr lang="fr-FR" sz="3200" b="1" dirty="0" err="1">
                <a:latin typeface="Garamond" panose="02020404030301010803" pitchFamily="18" charset="0"/>
              </a:rPr>
              <a:t>cache.php</a:t>
            </a:r>
            <a:r>
              <a:rPr lang="fr-FR" sz="3200" dirty="0">
                <a:latin typeface="Garamond" panose="02020404030301010803" pitchFamily="18" charset="0"/>
              </a:rPr>
              <a:t>. Dans ce fichier, vous pouvez spécifier le pilote de cache que vous souhaitez utiliser par défaut dans votre application. Laravel prend en charge les backends de mise en cache les plus courants, tels que </a:t>
            </a:r>
            <a:r>
              <a:rPr lang="fr-FR" sz="3200" b="1" dirty="0">
                <a:latin typeface="Garamond" panose="02020404030301010803" pitchFamily="18" charset="0"/>
              </a:rPr>
              <a:t>Memcached</a:t>
            </a:r>
            <a:r>
              <a:rPr lang="fr-FR" sz="3200" dirty="0">
                <a:latin typeface="Garamond" panose="02020404030301010803" pitchFamily="18" charset="0"/>
              </a:rPr>
              <a:t>, </a:t>
            </a:r>
            <a:r>
              <a:rPr lang="fr-FR" sz="3200" b="1" dirty="0">
                <a:latin typeface="Garamond" panose="02020404030301010803" pitchFamily="18" charset="0"/>
              </a:rPr>
              <a:t>Redis</a:t>
            </a:r>
            <a:r>
              <a:rPr lang="fr-FR" sz="3200" dirty="0">
                <a:latin typeface="Garamond" panose="02020404030301010803" pitchFamily="18" charset="0"/>
              </a:rPr>
              <a:t>, </a:t>
            </a:r>
            <a:r>
              <a:rPr lang="fr-FR" sz="3200" b="1" dirty="0" err="1">
                <a:latin typeface="Garamond" panose="02020404030301010803" pitchFamily="18" charset="0"/>
              </a:rPr>
              <a:t>DynamoDB</a:t>
            </a:r>
            <a:r>
              <a:rPr lang="fr-FR" sz="3200" dirty="0">
                <a:latin typeface="Garamond" panose="02020404030301010803" pitchFamily="18" charset="0"/>
              </a:rPr>
              <a:t> et les bases de données relationnelles. En outre, un pilote de cache basé sur les fichiers est disponible, tandis que les pilotes de cache </a:t>
            </a:r>
            <a:r>
              <a:rPr lang="fr-FR" sz="3200" dirty="0" err="1">
                <a:latin typeface="Garamond" panose="02020404030301010803" pitchFamily="18" charset="0"/>
              </a:rPr>
              <a:t>array</a:t>
            </a:r>
            <a:r>
              <a:rPr lang="fr-FR" sz="3200" dirty="0">
                <a:latin typeface="Garamond" panose="02020404030301010803" pitchFamily="18" charset="0"/>
              </a:rPr>
              <a:t> et "</a:t>
            </a:r>
            <a:r>
              <a:rPr lang="fr-FR" sz="3200" dirty="0" err="1">
                <a:latin typeface="Garamond" panose="02020404030301010803" pitchFamily="18" charset="0"/>
              </a:rPr>
              <a:t>null</a:t>
            </a:r>
            <a:r>
              <a:rPr lang="fr-FR" sz="3200" dirty="0">
                <a:latin typeface="Garamond" panose="02020404030301010803" pitchFamily="18" charset="0"/>
              </a:rPr>
              <a:t>" fournissent des backends de cache pratiques pour vos tests automatisés.</a:t>
            </a:r>
          </a:p>
        </p:txBody>
      </p:sp>
    </p:spTree>
    <p:extLst>
      <p:ext uri="{BB962C8B-B14F-4D97-AF65-F5344CB8AC3E}">
        <p14:creationId xmlns:p14="http://schemas.microsoft.com/office/powerpoint/2010/main" val="3929065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lstStyle/>
          <a:p>
            <a:r>
              <a:rPr lang="fr-FR" b="1" dirty="0"/>
              <a:t>Les prérequis (Base de données)</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Lorsque vous utilisez le pilote de cache de la base de données, vous devez configurer une table pour contenir les éléments du cache. Vous trouverez ci-dessous un exemple de déclaration de schéma pour la table :</a:t>
            </a:r>
          </a:p>
        </p:txBody>
      </p:sp>
      <p:sp>
        <p:nvSpPr>
          <p:cNvPr id="5" name="ZoneTexte 4">
            <a:extLst>
              <a:ext uri="{FF2B5EF4-FFF2-40B4-BE49-F238E27FC236}">
                <a16:creationId xmlns:a16="http://schemas.microsoft.com/office/drawing/2014/main" id="{3059A223-BF06-967E-385A-C9C387D00065}"/>
              </a:ext>
            </a:extLst>
          </p:cNvPr>
          <p:cNvSpPr txBox="1"/>
          <p:nvPr/>
        </p:nvSpPr>
        <p:spPr>
          <a:xfrm>
            <a:off x="942108" y="3798699"/>
            <a:ext cx="8756073" cy="1938992"/>
          </a:xfrm>
          <a:prstGeom prst="rect">
            <a:avLst/>
          </a:prstGeom>
          <a:solidFill>
            <a:schemeClr val="tx1">
              <a:lumMod val="85000"/>
              <a:lumOff val="15000"/>
            </a:schemeClr>
          </a:solidFill>
        </p:spPr>
        <p:txBody>
          <a:bodyPr wrap="square">
            <a:spAutoFit/>
          </a:bodyPr>
          <a:lstStyle/>
          <a:p>
            <a:pPr algn="l"/>
            <a:r>
              <a:rPr lang="fr-FR" sz="2400" b="0" i="0" dirty="0" err="1">
                <a:solidFill>
                  <a:srgbClr val="FFCB8B"/>
                </a:solidFill>
                <a:effectLst/>
                <a:latin typeface="source-code-pro"/>
              </a:rPr>
              <a:t>Schema</a:t>
            </a:r>
            <a:r>
              <a:rPr lang="fr-FR" sz="2400" b="0" i="0" dirty="0">
                <a:solidFill>
                  <a:srgbClr val="89DDFF"/>
                </a:solidFill>
                <a:effectLst/>
                <a:latin typeface="source-code-pro"/>
              </a:rPr>
              <a:t>::</a:t>
            </a:r>
            <a:r>
              <a:rPr lang="fr-FR" sz="2400" b="0" i="0" dirty="0" err="1">
                <a:solidFill>
                  <a:srgbClr val="82AAFF"/>
                </a:solidFill>
                <a:effectLst/>
                <a:latin typeface="source-code-pro"/>
              </a:rPr>
              <a:t>create</a:t>
            </a:r>
            <a:r>
              <a:rPr lang="fr-FR" sz="2400" b="0" i="0" dirty="0">
                <a:solidFill>
                  <a:srgbClr val="BFC7D5"/>
                </a:solidFill>
                <a:effectLst/>
                <a:latin typeface="source-code-pro"/>
              </a:rPr>
              <a:t>(</a:t>
            </a:r>
            <a:r>
              <a:rPr lang="fr-FR" sz="2400" b="0" i="0" dirty="0">
                <a:solidFill>
                  <a:srgbClr val="D9F5DD"/>
                </a:solidFill>
                <a:effectLst/>
                <a:latin typeface="source-code-pro"/>
              </a:rPr>
              <a:t>'</a:t>
            </a:r>
            <a:r>
              <a:rPr lang="fr-FR" sz="2400" b="0" i="0" dirty="0">
                <a:solidFill>
                  <a:srgbClr val="C3E88D"/>
                </a:solidFill>
                <a:effectLst/>
                <a:latin typeface="source-code-pro"/>
              </a:rPr>
              <a:t>cache</a:t>
            </a:r>
            <a:r>
              <a:rPr lang="fr-FR" sz="2400" b="0" i="0" dirty="0">
                <a:solidFill>
                  <a:srgbClr val="D9F5DD"/>
                </a:solidFill>
                <a:effectLst/>
                <a:latin typeface="source-code-pro"/>
              </a:rPr>
              <a:t>'</a:t>
            </a:r>
            <a:r>
              <a:rPr lang="fr-FR" sz="2400" b="0" i="0" dirty="0">
                <a:solidFill>
                  <a:srgbClr val="BFC7D5"/>
                </a:solidFill>
                <a:effectLst/>
                <a:latin typeface="source-code-pro"/>
              </a:rPr>
              <a:t>, </a:t>
            </a:r>
            <a:r>
              <a:rPr lang="fr-FR" sz="2400" b="0" i="0" dirty="0" err="1">
                <a:solidFill>
                  <a:srgbClr val="C792EA"/>
                </a:solidFill>
                <a:effectLst/>
                <a:latin typeface="source-code-pro"/>
              </a:rPr>
              <a:t>function</a:t>
            </a:r>
            <a:r>
              <a:rPr lang="fr-FR" sz="2400" b="0" i="0" dirty="0">
                <a:solidFill>
                  <a:srgbClr val="BFC7D5"/>
                </a:solidFill>
                <a:effectLst/>
                <a:latin typeface="source-code-pro"/>
              </a:rPr>
              <a:t> </a:t>
            </a:r>
            <a:r>
              <a:rPr lang="fr-FR" sz="2400" b="0" i="0" dirty="0">
                <a:solidFill>
                  <a:srgbClr val="D9F5DD"/>
                </a:solidFill>
                <a:effectLst/>
                <a:latin typeface="source-code-pro"/>
              </a:rPr>
              <a:t>(</a:t>
            </a:r>
            <a:r>
              <a:rPr lang="fr-FR" sz="2400" b="0" i="0" dirty="0">
                <a:solidFill>
                  <a:srgbClr val="BEC5D4"/>
                </a:solidFill>
                <a:effectLst/>
                <a:latin typeface="source-code-pro"/>
              </a:rPr>
              <a:t>$table</a:t>
            </a:r>
            <a:r>
              <a:rPr lang="fr-FR" sz="2400" b="0" i="0" dirty="0">
                <a:solidFill>
                  <a:srgbClr val="D9F5DD"/>
                </a:solidFill>
                <a:effectLst/>
                <a:latin typeface="source-code-pro"/>
              </a:rPr>
              <a:t>)</a:t>
            </a:r>
            <a:r>
              <a:rPr lang="fr-FR" sz="2400" b="0" i="0" dirty="0">
                <a:solidFill>
                  <a:srgbClr val="BFC7D5"/>
                </a:solidFill>
                <a:effectLst/>
                <a:latin typeface="source-code-pro"/>
              </a:rPr>
              <a:t> {</a:t>
            </a:r>
            <a:endParaRPr lang="fr-FR" sz="2400" b="0" i="0" dirty="0">
              <a:solidFill>
                <a:srgbClr val="232323"/>
              </a:solidFill>
              <a:effectLst/>
              <a:latin typeface="source-code-pro"/>
            </a:endParaRPr>
          </a:p>
          <a:p>
            <a:pPr lvl="1"/>
            <a:r>
              <a:rPr lang="fr-FR" sz="2400" b="0" i="0" dirty="0">
                <a:solidFill>
                  <a:srgbClr val="BEC5D4"/>
                </a:solidFill>
                <a:effectLst/>
                <a:latin typeface="source-code-pro"/>
              </a:rPr>
              <a:t>$table</a:t>
            </a:r>
            <a:r>
              <a:rPr lang="fr-FR" sz="2400" b="0" i="0" dirty="0">
                <a:solidFill>
                  <a:srgbClr val="89DDFF"/>
                </a:solidFill>
                <a:effectLst/>
                <a:latin typeface="source-code-pro"/>
              </a:rPr>
              <a:t>-&gt;</a:t>
            </a:r>
            <a:r>
              <a:rPr lang="fr-FR" sz="2400" b="0" i="0" dirty="0">
                <a:solidFill>
                  <a:srgbClr val="82AAFF"/>
                </a:solidFill>
                <a:effectLst/>
                <a:latin typeface="source-code-pro"/>
              </a:rPr>
              <a:t>string</a:t>
            </a:r>
            <a:r>
              <a:rPr lang="fr-FR" sz="2400" b="0" i="0" dirty="0">
                <a:solidFill>
                  <a:srgbClr val="BFC7D5"/>
                </a:solidFill>
                <a:effectLst/>
                <a:latin typeface="source-code-pro"/>
              </a:rPr>
              <a:t>(</a:t>
            </a:r>
            <a:r>
              <a:rPr lang="fr-FR" sz="2400" b="0" i="0" dirty="0">
                <a:solidFill>
                  <a:srgbClr val="D9F5DD"/>
                </a:solidFill>
                <a:effectLst/>
                <a:latin typeface="source-code-pro"/>
              </a:rPr>
              <a:t>'</a:t>
            </a:r>
            <a:r>
              <a:rPr lang="fr-FR" sz="2400" b="0" i="0" dirty="0">
                <a:solidFill>
                  <a:srgbClr val="C3E88D"/>
                </a:solidFill>
                <a:effectLst/>
                <a:latin typeface="source-code-pro"/>
              </a:rPr>
              <a:t>key</a:t>
            </a:r>
            <a:r>
              <a:rPr lang="fr-FR" sz="2400" b="0" i="0" dirty="0">
                <a:solidFill>
                  <a:srgbClr val="D9F5DD"/>
                </a:solidFill>
                <a:effectLst/>
                <a:latin typeface="source-code-pro"/>
              </a:rPr>
              <a:t>'</a:t>
            </a:r>
            <a:r>
              <a:rPr lang="fr-FR" sz="2400" b="0" i="0" dirty="0">
                <a:solidFill>
                  <a:srgbClr val="BFC7D5"/>
                </a:solidFill>
                <a:effectLst/>
                <a:latin typeface="source-code-pro"/>
              </a:rPr>
              <a:t>)</a:t>
            </a:r>
            <a:r>
              <a:rPr lang="fr-FR" sz="2400" b="0" i="0" dirty="0">
                <a:solidFill>
                  <a:srgbClr val="89DDFF"/>
                </a:solidFill>
                <a:effectLst/>
                <a:latin typeface="source-code-pro"/>
              </a:rPr>
              <a:t>-&gt;</a:t>
            </a:r>
            <a:r>
              <a:rPr lang="fr-FR" sz="2400" b="0" i="0" dirty="0">
                <a:solidFill>
                  <a:srgbClr val="82AAFF"/>
                </a:solidFill>
                <a:effectLst/>
                <a:latin typeface="source-code-pro"/>
              </a:rPr>
              <a:t>unique</a:t>
            </a:r>
            <a:r>
              <a:rPr lang="fr-FR" sz="2400" b="0" i="0" dirty="0">
                <a:solidFill>
                  <a:srgbClr val="BFC7D5"/>
                </a:solidFill>
                <a:effectLst/>
                <a:latin typeface="source-code-pro"/>
              </a:rPr>
              <a:t>();</a:t>
            </a:r>
            <a:endParaRPr lang="fr-FR" sz="2400" b="0" i="0" dirty="0">
              <a:solidFill>
                <a:srgbClr val="232323"/>
              </a:solidFill>
              <a:effectLst/>
              <a:latin typeface="source-code-pro"/>
            </a:endParaRPr>
          </a:p>
          <a:p>
            <a:pPr lvl="1"/>
            <a:r>
              <a:rPr lang="fr-FR" sz="2400" b="0" i="0" dirty="0">
                <a:solidFill>
                  <a:srgbClr val="BEC5D4"/>
                </a:solidFill>
                <a:effectLst/>
                <a:latin typeface="source-code-pro"/>
              </a:rPr>
              <a:t>$table</a:t>
            </a:r>
            <a:r>
              <a:rPr lang="fr-FR" sz="2400" b="0" i="0" dirty="0">
                <a:solidFill>
                  <a:srgbClr val="89DDFF"/>
                </a:solidFill>
                <a:effectLst/>
                <a:latin typeface="source-code-pro"/>
              </a:rPr>
              <a:t>-&gt;</a:t>
            </a:r>
            <a:r>
              <a:rPr lang="fr-FR" sz="2400" b="0" i="0" dirty="0" err="1">
                <a:solidFill>
                  <a:srgbClr val="82AAFF"/>
                </a:solidFill>
                <a:effectLst/>
                <a:latin typeface="source-code-pro"/>
              </a:rPr>
              <a:t>text</a:t>
            </a:r>
            <a:r>
              <a:rPr lang="fr-FR" sz="2400" b="0" i="0" dirty="0">
                <a:solidFill>
                  <a:srgbClr val="BFC7D5"/>
                </a:solidFill>
                <a:effectLst/>
                <a:latin typeface="source-code-pro"/>
              </a:rPr>
              <a:t>(</a:t>
            </a:r>
            <a:r>
              <a:rPr lang="fr-FR" sz="2400" b="0" i="0" dirty="0">
                <a:solidFill>
                  <a:srgbClr val="D9F5DD"/>
                </a:solidFill>
                <a:effectLst/>
                <a:latin typeface="source-code-pro"/>
              </a:rPr>
              <a:t>'</a:t>
            </a:r>
            <a:r>
              <a:rPr lang="fr-FR" sz="2400" b="0" i="0" dirty="0">
                <a:solidFill>
                  <a:srgbClr val="C3E88D"/>
                </a:solidFill>
                <a:effectLst/>
                <a:latin typeface="source-code-pro"/>
              </a:rPr>
              <a:t>value</a:t>
            </a:r>
            <a:r>
              <a:rPr lang="fr-FR" sz="2400" b="0" i="0" dirty="0">
                <a:solidFill>
                  <a:srgbClr val="D9F5DD"/>
                </a:solidFill>
                <a:effectLst/>
                <a:latin typeface="source-code-pro"/>
              </a:rPr>
              <a:t>'</a:t>
            </a:r>
            <a:r>
              <a:rPr lang="fr-FR" sz="2400" b="0" i="0" dirty="0">
                <a:solidFill>
                  <a:srgbClr val="BFC7D5"/>
                </a:solidFill>
                <a:effectLst/>
                <a:latin typeface="source-code-pro"/>
              </a:rPr>
              <a:t>);</a:t>
            </a:r>
            <a:endParaRPr lang="fr-FR" sz="2400" b="0" i="0" dirty="0">
              <a:solidFill>
                <a:srgbClr val="232323"/>
              </a:solidFill>
              <a:effectLst/>
              <a:latin typeface="source-code-pro"/>
            </a:endParaRPr>
          </a:p>
          <a:p>
            <a:pPr lvl="1"/>
            <a:r>
              <a:rPr lang="fr-FR" sz="2400" b="0" i="0" dirty="0">
                <a:solidFill>
                  <a:srgbClr val="BEC5D4"/>
                </a:solidFill>
                <a:effectLst/>
                <a:latin typeface="source-code-pro"/>
              </a:rPr>
              <a:t>$table</a:t>
            </a:r>
            <a:r>
              <a:rPr lang="fr-FR" sz="2400" b="0" i="0" dirty="0">
                <a:solidFill>
                  <a:srgbClr val="89DDFF"/>
                </a:solidFill>
                <a:effectLst/>
                <a:latin typeface="source-code-pro"/>
              </a:rPr>
              <a:t>-&gt;</a:t>
            </a:r>
            <a:r>
              <a:rPr lang="fr-FR" sz="2400" b="0" i="0" dirty="0" err="1">
                <a:solidFill>
                  <a:srgbClr val="82AAFF"/>
                </a:solidFill>
                <a:effectLst/>
                <a:latin typeface="source-code-pro"/>
              </a:rPr>
              <a:t>integer</a:t>
            </a:r>
            <a:r>
              <a:rPr lang="fr-FR" sz="2400" b="0" i="0" dirty="0">
                <a:solidFill>
                  <a:srgbClr val="BFC7D5"/>
                </a:solidFill>
                <a:effectLst/>
                <a:latin typeface="source-code-pro"/>
              </a:rPr>
              <a:t>(</a:t>
            </a:r>
            <a:r>
              <a:rPr lang="fr-FR" sz="2400" b="0" i="0" dirty="0">
                <a:solidFill>
                  <a:srgbClr val="D9F5DD"/>
                </a:solidFill>
                <a:effectLst/>
                <a:latin typeface="source-code-pro"/>
              </a:rPr>
              <a:t>'</a:t>
            </a:r>
            <a:r>
              <a:rPr lang="fr-FR" sz="2400" b="0" i="0" dirty="0">
                <a:solidFill>
                  <a:srgbClr val="C3E88D"/>
                </a:solidFill>
                <a:effectLst/>
                <a:latin typeface="source-code-pro"/>
              </a:rPr>
              <a:t>expiration</a:t>
            </a:r>
            <a:r>
              <a:rPr lang="fr-FR" sz="2400" b="0" i="0" dirty="0">
                <a:solidFill>
                  <a:srgbClr val="D9F5DD"/>
                </a:solidFill>
                <a:effectLst/>
                <a:latin typeface="source-code-pro"/>
              </a:rPr>
              <a:t>'</a:t>
            </a:r>
            <a:r>
              <a:rPr lang="fr-FR" sz="2400" b="0" i="0" dirty="0">
                <a:solidFill>
                  <a:srgbClr val="BFC7D5"/>
                </a:solidFill>
                <a:effectLst/>
                <a:latin typeface="source-code-pro"/>
              </a:rPr>
              <a:t>);</a:t>
            </a:r>
            <a:endParaRPr lang="fr-FR" sz="2400" b="0" i="0" dirty="0">
              <a:solidFill>
                <a:srgbClr val="232323"/>
              </a:solidFill>
              <a:effectLst/>
              <a:latin typeface="source-code-pro"/>
            </a:endParaRPr>
          </a:p>
          <a:p>
            <a:pPr algn="l"/>
            <a:r>
              <a:rPr lang="fr-FR" sz="2400" b="0" i="0" dirty="0">
                <a:solidFill>
                  <a:srgbClr val="BFC7D5"/>
                </a:solidFill>
                <a:effectLst/>
                <a:latin typeface="source-code-pro"/>
              </a:rPr>
              <a:t>});</a:t>
            </a:r>
            <a:endParaRPr lang="fr-FR" sz="2400" b="0" i="0" dirty="0">
              <a:solidFill>
                <a:srgbClr val="232323"/>
              </a:solidFill>
              <a:effectLst/>
              <a:latin typeface="source-code-pro"/>
            </a:endParaRPr>
          </a:p>
        </p:txBody>
      </p:sp>
    </p:spTree>
    <p:extLst>
      <p:ext uri="{BB962C8B-B14F-4D97-AF65-F5344CB8AC3E}">
        <p14:creationId xmlns:p14="http://schemas.microsoft.com/office/powerpoint/2010/main" val="2695778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lstStyle/>
          <a:p>
            <a:r>
              <a:rPr lang="fr-FR" b="1" dirty="0"/>
              <a:t>Les prérequis (Memcached)</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L'utilisation du pilote </a:t>
            </a:r>
            <a:r>
              <a:rPr lang="fr-FR" sz="3200" b="1" dirty="0">
                <a:latin typeface="Garamond" panose="02020404030301010803" pitchFamily="18" charset="0"/>
              </a:rPr>
              <a:t>Memcached</a:t>
            </a:r>
            <a:r>
              <a:rPr lang="fr-FR" sz="3200" dirty="0">
                <a:latin typeface="Garamond" panose="02020404030301010803" pitchFamily="18" charset="0"/>
              </a:rPr>
              <a:t> nécessite l'installation du paquetage Memcached PECL. Vous pouvez répertorier tous vos serveurs Memcached dans le fichier de configuration </a:t>
            </a:r>
            <a:r>
              <a:rPr lang="fr-FR" sz="3200" b="1" dirty="0">
                <a:latin typeface="Garamond" panose="02020404030301010803" pitchFamily="18" charset="0"/>
              </a:rPr>
              <a:t>config/</a:t>
            </a:r>
            <a:r>
              <a:rPr lang="fr-FR" sz="3200" b="1" dirty="0" err="1">
                <a:latin typeface="Garamond" panose="02020404030301010803" pitchFamily="18" charset="0"/>
              </a:rPr>
              <a:t>cache.php</a:t>
            </a:r>
            <a:r>
              <a:rPr lang="fr-FR" sz="3200" dirty="0">
                <a:latin typeface="Garamond" panose="02020404030301010803" pitchFamily="18" charset="0"/>
              </a:rPr>
              <a:t>. Ce fichier contient déjà une entrée </a:t>
            </a:r>
            <a:r>
              <a:rPr lang="fr-FR" sz="3200" b="1" dirty="0" err="1">
                <a:latin typeface="Garamond" panose="02020404030301010803" pitchFamily="18" charset="0"/>
              </a:rPr>
              <a:t>memcached.servers</a:t>
            </a:r>
            <a:r>
              <a:rPr lang="fr-FR" sz="3200" b="1" dirty="0">
                <a:latin typeface="Garamond" panose="02020404030301010803" pitchFamily="18" charset="0"/>
              </a:rPr>
              <a:t> </a:t>
            </a:r>
            <a:r>
              <a:rPr lang="fr-FR" sz="3200" dirty="0">
                <a:latin typeface="Garamond" panose="02020404030301010803" pitchFamily="18" charset="0"/>
              </a:rPr>
              <a:t>pour vous aider à démarrer :</a:t>
            </a:r>
          </a:p>
        </p:txBody>
      </p:sp>
      <p:sp>
        <p:nvSpPr>
          <p:cNvPr id="5" name="ZoneTexte 4">
            <a:extLst>
              <a:ext uri="{FF2B5EF4-FFF2-40B4-BE49-F238E27FC236}">
                <a16:creationId xmlns:a16="http://schemas.microsoft.com/office/drawing/2014/main" id="{3059A223-BF06-967E-385A-C9C387D00065}"/>
              </a:ext>
            </a:extLst>
          </p:cNvPr>
          <p:cNvSpPr txBox="1"/>
          <p:nvPr/>
        </p:nvSpPr>
        <p:spPr>
          <a:xfrm>
            <a:off x="955963" y="3387435"/>
            <a:ext cx="8756073" cy="3416320"/>
          </a:xfrm>
          <a:prstGeom prst="rect">
            <a:avLst/>
          </a:prstGeom>
          <a:solidFill>
            <a:schemeClr val="tx1">
              <a:lumMod val="85000"/>
              <a:lumOff val="15000"/>
            </a:schemeClr>
          </a:solidFill>
        </p:spPr>
        <p:txBody>
          <a:bodyPr wrap="square">
            <a:spAutoFit/>
          </a:bodyPr>
          <a:lstStyle/>
          <a:p>
            <a:pPr algn="l"/>
            <a:r>
              <a:rPr lang="fr-FR" sz="2400" b="0" i="0" dirty="0">
                <a:solidFill>
                  <a:srgbClr val="D9F5DD"/>
                </a:solidFill>
                <a:effectLst/>
                <a:latin typeface="source-code-pro"/>
              </a:rPr>
              <a:t>'</a:t>
            </a:r>
            <a:r>
              <a:rPr lang="fr-FR" sz="2400" b="0" i="0" dirty="0" err="1">
                <a:solidFill>
                  <a:srgbClr val="C3E88D"/>
                </a:solidFill>
                <a:effectLst/>
                <a:latin typeface="source-code-pro"/>
              </a:rPr>
              <a:t>memcached</a:t>
            </a:r>
            <a:r>
              <a:rPr lang="fr-FR" sz="2400" b="0" i="0" dirty="0">
                <a:solidFill>
                  <a:srgbClr val="D9F5DD"/>
                </a:solidFill>
                <a:effectLst/>
                <a:latin typeface="source-code-pro"/>
              </a:rPr>
              <a:t>'</a:t>
            </a:r>
            <a:r>
              <a:rPr lang="fr-FR" sz="2400" b="0" i="0" dirty="0">
                <a:solidFill>
                  <a:srgbClr val="BFC7D5"/>
                </a:solidFill>
                <a:effectLst/>
                <a:latin typeface="source-code-pro"/>
              </a:rPr>
              <a:t> </a:t>
            </a:r>
            <a:r>
              <a:rPr lang="fr-FR" sz="2400" b="0" i="0" dirty="0">
                <a:solidFill>
                  <a:srgbClr val="89DDFF"/>
                </a:solidFill>
                <a:effectLst/>
                <a:latin typeface="source-code-pro"/>
              </a:rPr>
              <a:t>=&gt;</a:t>
            </a:r>
            <a:r>
              <a:rPr lang="fr-FR" sz="2400" b="0" i="0" dirty="0">
                <a:solidFill>
                  <a:srgbClr val="BFC7D5"/>
                </a:solidFill>
                <a:effectLst/>
                <a:latin typeface="source-code-pro"/>
              </a:rPr>
              <a:t> [</a:t>
            </a:r>
            <a:endParaRPr lang="fr-FR" sz="2400" b="0" i="0" dirty="0">
              <a:solidFill>
                <a:srgbClr val="232323"/>
              </a:solidFill>
              <a:effectLst/>
              <a:latin typeface="source-code-pro"/>
            </a:endParaRPr>
          </a:p>
          <a:p>
            <a:pPr lvl="1"/>
            <a:r>
              <a:rPr lang="fr-FR" sz="2400" b="0" i="0" dirty="0">
                <a:solidFill>
                  <a:srgbClr val="D9F5DD"/>
                </a:solidFill>
                <a:effectLst/>
                <a:latin typeface="source-code-pro"/>
              </a:rPr>
              <a:t>'</a:t>
            </a:r>
            <a:r>
              <a:rPr lang="fr-FR" sz="2400" b="0" i="0" dirty="0">
                <a:solidFill>
                  <a:srgbClr val="C3E88D"/>
                </a:solidFill>
                <a:effectLst/>
                <a:latin typeface="source-code-pro"/>
              </a:rPr>
              <a:t>servers</a:t>
            </a:r>
            <a:r>
              <a:rPr lang="fr-FR" sz="2400" b="0" i="0" dirty="0">
                <a:solidFill>
                  <a:srgbClr val="D9F5DD"/>
                </a:solidFill>
                <a:effectLst/>
                <a:latin typeface="source-code-pro"/>
              </a:rPr>
              <a:t>'</a:t>
            </a:r>
            <a:r>
              <a:rPr lang="fr-FR" sz="2400" b="0" i="0" dirty="0">
                <a:solidFill>
                  <a:srgbClr val="BFC7D5"/>
                </a:solidFill>
                <a:effectLst/>
                <a:latin typeface="source-code-pro"/>
              </a:rPr>
              <a:t> </a:t>
            </a:r>
            <a:r>
              <a:rPr lang="fr-FR" sz="2400" b="0" i="0" dirty="0">
                <a:solidFill>
                  <a:srgbClr val="89DDFF"/>
                </a:solidFill>
                <a:effectLst/>
                <a:latin typeface="source-code-pro"/>
              </a:rPr>
              <a:t>=&gt;</a:t>
            </a:r>
            <a:r>
              <a:rPr lang="fr-FR" sz="2400" b="0" i="0" dirty="0">
                <a:solidFill>
                  <a:srgbClr val="BFC7D5"/>
                </a:solidFill>
                <a:effectLst/>
                <a:latin typeface="source-code-pro"/>
              </a:rPr>
              <a:t> [</a:t>
            </a:r>
            <a:endParaRPr lang="fr-FR" sz="2400" b="0" i="0" dirty="0">
              <a:solidFill>
                <a:srgbClr val="232323"/>
              </a:solidFill>
              <a:effectLst/>
              <a:latin typeface="source-code-pro"/>
            </a:endParaRPr>
          </a:p>
          <a:p>
            <a:pPr lvl="1"/>
            <a:r>
              <a:rPr lang="fr-FR" sz="2400" b="0" i="0" dirty="0">
                <a:solidFill>
                  <a:srgbClr val="BFC7D5"/>
                </a:solidFill>
                <a:effectLst/>
                <a:latin typeface="source-code-pro"/>
              </a:rPr>
              <a:t>[</a:t>
            </a:r>
            <a:endParaRPr lang="fr-FR" sz="2400" b="0" i="0" dirty="0">
              <a:solidFill>
                <a:srgbClr val="232323"/>
              </a:solidFill>
              <a:effectLst/>
              <a:latin typeface="source-code-pro"/>
            </a:endParaRPr>
          </a:p>
          <a:p>
            <a:pPr lvl="2"/>
            <a:r>
              <a:rPr lang="fr-FR" sz="2400" b="0" i="0" dirty="0">
                <a:solidFill>
                  <a:srgbClr val="D9F5DD"/>
                </a:solidFill>
                <a:effectLst/>
                <a:latin typeface="source-code-pro"/>
              </a:rPr>
              <a:t>'</a:t>
            </a:r>
            <a:r>
              <a:rPr lang="fr-FR" sz="2400" b="0" i="0" dirty="0">
                <a:solidFill>
                  <a:srgbClr val="C3E88D"/>
                </a:solidFill>
                <a:effectLst/>
                <a:latin typeface="source-code-pro"/>
              </a:rPr>
              <a:t>host</a:t>
            </a:r>
            <a:r>
              <a:rPr lang="fr-FR" sz="2400" b="0" i="0" dirty="0">
                <a:solidFill>
                  <a:srgbClr val="D9F5DD"/>
                </a:solidFill>
                <a:effectLst/>
                <a:latin typeface="source-code-pro"/>
              </a:rPr>
              <a:t>'</a:t>
            </a:r>
            <a:r>
              <a:rPr lang="fr-FR" sz="2400" b="0" i="0" dirty="0">
                <a:solidFill>
                  <a:srgbClr val="BFC7D5"/>
                </a:solidFill>
                <a:effectLst/>
                <a:latin typeface="source-code-pro"/>
              </a:rPr>
              <a:t> </a:t>
            </a:r>
            <a:r>
              <a:rPr lang="fr-FR" sz="2400" b="0" i="0" dirty="0">
                <a:solidFill>
                  <a:srgbClr val="89DDFF"/>
                </a:solidFill>
                <a:effectLst/>
                <a:latin typeface="source-code-pro"/>
              </a:rPr>
              <a:t>=&gt;</a:t>
            </a:r>
            <a:r>
              <a:rPr lang="fr-FR" sz="2400" b="0" i="0" dirty="0">
                <a:solidFill>
                  <a:srgbClr val="BFC7D5"/>
                </a:solidFill>
                <a:effectLst/>
                <a:latin typeface="source-code-pro"/>
              </a:rPr>
              <a:t> </a:t>
            </a:r>
            <a:r>
              <a:rPr lang="fr-FR" sz="2400" b="0" i="0" dirty="0" err="1">
                <a:solidFill>
                  <a:srgbClr val="82AAFF"/>
                </a:solidFill>
                <a:effectLst/>
                <a:latin typeface="source-code-pro"/>
              </a:rPr>
              <a:t>env</a:t>
            </a:r>
            <a:r>
              <a:rPr lang="fr-FR" sz="2400" b="0" i="0" dirty="0">
                <a:solidFill>
                  <a:srgbClr val="BFC7D5"/>
                </a:solidFill>
                <a:effectLst/>
                <a:latin typeface="source-code-pro"/>
              </a:rPr>
              <a:t>(</a:t>
            </a:r>
            <a:r>
              <a:rPr lang="fr-FR" sz="2400" b="0" i="0" dirty="0">
                <a:solidFill>
                  <a:srgbClr val="D9F5DD"/>
                </a:solidFill>
                <a:effectLst/>
                <a:latin typeface="source-code-pro"/>
              </a:rPr>
              <a:t>'</a:t>
            </a:r>
            <a:r>
              <a:rPr lang="fr-FR" sz="2400" b="0" i="0" dirty="0">
                <a:solidFill>
                  <a:srgbClr val="C3E88D"/>
                </a:solidFill>
                <a:effectLst/>
                <a:latin typeface="source-code-pro"/>
              </a:rPr>
              <a:t>MEMCACHED_HOST</a:t>
            </a:r>
            <a:r>
              <a:rPr lang="fr-FR" sz="2400" b="0" i="0" dirty="0">
                <a:solidFill>
                  <a:srgbClr val="D9F5DD"/>
                </a:solidFill>
                <a:effectLst/>
                <a:latin typeface="source-code-pro"/>
              </a:rPr>
              <a:t>'</a:t>
            </a:r>
            <a:r>
              <a:rPr lang="fr-FR" sz="2400" b="0" i="0" dirty="0">
                <a:solidFill>
                  <a:srgbClr val="BFC7D5"/>
                </a:solidFill>
                <a:effectLst/>
                <a:latin typeface="source-code-pro"/>
              </a:rPr>
              <a:t>,</a:t>
            </a:r>
            <a:r>
              <a:rPr lang="fr-FR" sz="2400" b="0" i="0" dirty="0">
                <a:solidFill>
                  <a:srgbClr val="82AAFF"/>
                </a:solidFill>
                <a:effectLst/>
                <a:latin typeface="source-code-pro"/>
              </a:rPr>
              <a:t> </a:t>
            </a:r>
            <a:r>
              <a:rPr lang="fr-FR" sz="2400" b="0" i="0" dirty="0">
                <a:solidFill>
                  <a:srgbClr val="D9F5DD"/>
                </a:solidFill>
                <a:effectLst/>
                <a:latin typeface="source-code-pro"/>
              </a:rPr>
              <a:t>'</a:t>
            </a:r>
            <a:r>
              <a:rPr lang="fr-FR" sz="2400" b="0" i="0" dirty="0">
                <a:solidFill>
                  <a:srgbClr val="C3E88D"/>
                </a:solidFill>
                <a:effectLst/>
                <a:latin typeface="source-code-pro"/>
              </a:rPr>
              <a:t>127.0.0.1</a:t>
            </a:r>
            <a:r>
              <a:rPr lang="fr-FR" sz="2400" b="0" i="0" dirty="0">
                <a:solidFill>
                  <a:srgbClr val="D9F5DD"/>
                </a:solidFill>
                <a:effectLst/>
                <a:latin typeface="source-code-pro"/>
              </a:rPr>
              <a:t>'</a:t>
            </a:r>
            <a:r>
              <a:rPr lang="fr-FR" sz="2400" b="0" i="0" dirty="0">
                <a:solidFill>
                  <a:srgbClr val="BFC7D5"/>
                </a:solidFill>
                <a:effectLst/>
                <a:latin typeface="source-code-pro"/>
              </a:rPr>
              <a:t>),</a:t>
            </a:r>
            <a:endParaRPr lang="fr-FR" sz="2400" b="0" i="0" dirty="0">
              <a:solidFill>
                <a:srgbClr val="232323"/>
              </a:solidFill>
              <a:effectLst/>
              <a:latin typeface="source-code-pro"/>
            </a:endParaRPr>
          </a:p>
          <a:p>
            <a:pPr lvl="2"/>
            <a:r>
              <a:rPr lang="fr-FR" sz="2400" b="0" i="0" dirty="0">
                <a:solidFill>
                  <a:srgbClr val="D9F5DD"/>
                </a:solidFill>
                <a:effectLst/>
                <a:latin typeface="source-code-pro"/>
              </a:rPr>
              <a:t>'</a:t>
            </a:r>
            <a:r>
              <a:rPr lang="fr-FR" sz="2400" b="0" i="0" dirty="0">
                <a:solidFill>
                  <a:srgbClr val="C3E88D"/>
                </a:solidFill>
                <a:effectLst/>
                <a:latin typeface="source-code-pro"/>
              </a:rPr>
              <a:t>port</a:t>
            </a:r>
            <a:r>
              <a:rPr lang="fr-FR" sz="2400" b="0" i="0" dirty="0">
                <a:solidFill>
                  <a:srgbClr val="D9F5DD"/>
                </a:solidFill>
                <a:effectLst/>
                <a:latin typeface="source-code-pro"/>
              </a:rPr>
              <a:t>'</a:t>
            </a:r>
            <a:r>
              <a:rPr lang="fr-FR" sz="2400" b="0" i="0" dirty="0">
                <a:solidFill>
                  <a:srgbClr val="BFC7D5"/>
                </a:solidFill>
                <a:effectLst/>
                <a:latin typeface="source-code-pro"/>
              </a:rPr>
              <a:t> </a:t>
            </a:r>
            <a:r>
              <a:rPr lang="fr-FR" sz="2400" b="0" i="0" dirty="0">
                <a:solidFill>
                  <a:srgbClr val="89DDFF"/>
                </a:solidFill>
                <a:effectLst/>
                <a:latin typeface="source-code-pro"/>
              </a:rPr>
              <a:t>=&gt;</a:t>
            </a:r>
            <a:r>
              <a:rPr lang="fr-FR" sz="2400" b="0" i="0" dirty="0">
                <a:solidFill>
                  <a:srgbClr val="BFC7D5"/>
                </a:solidFill>
                <a:effectLst/>
                <a:latin typeface="source-code-pro"/>
              </a:rPr>
              <a:t> </a:t>
            </a:r>
            <a:r>
              <a:rPr lang="fr-FR" sz="2400" b="0" i="0" dirty="0" err="1">
                <a:solidFill>
                  <a:srgbClr val="82AAFF"/>
                </a:solidFill>
                <a:effectLst/>
                <a:latin typeface="source-code-pro"/>
              </a:rPr>
              <a:t>env</a:t>
            </a:r>
            <a:r>
              <a:rPr lang="fr-FR" sz="2400" b="0" i="0" dirty="0">
                <a:solidFill>
                  <a:srgbClr val="BFC7D5"/>
                </a:solidFill>
                <a:effectLst/>
                <a:latin typeface="source-code-pro"/>
              </a:rPr>
              <a:t>(</a:t>
            </a:r>
            <a:r>
              <a:rPr lang="fr-FR" sz="2400" b="0" i="0" dirty="0">
                <a:solidFill>
                  <a:srgbClr val="D9F5DD"/>
                </a:solidFill>
                <a:effectLst/>
                <a:latin typeface="source-code-pro"/>
              </a:rPr>
              <a:t>'</a:t>
            </a:r>
            <a:r>
              <a:rPr lang="fr-FR" sz="2400" b="0" i="0" dirty="0">
                <a:solidFill>
                  <a:srgbClr val="C3E88D"/>
                </a:solidFill>
                <a:effectLst/>
                <a:latin typeface="source-code-pro"/>
              </a:rPr>
              <a:t>MEMCACHED_PORT</a:t>
            </a:r>
            <a:r>
              <a:rPr lang="fr-FR" sz="2400" b="0" i="0" dirty="0">
                <a:solidFill>
                  <a:srgbClr val="D9F5DD"/>
                </a:solidFill>
                <a:effectLst/>
                <a:latin typeface="source-code-pro"/>
              </a:rPr>
              <a:t>'</a:t>
            </a:r>
            <a:r>
              <a:rPr lang="fr-FR" sz="2400" b="0" i="0" dirty="0">
                <a:solidFill>
                  <a:srgbClr val="BFC7D5"/>
                </a:solidFill>
                <a:effectLst/>
                <a:latin typeface="source-code-pro"/>
              </a:rPr>
              <a:t>,</a:t>
            </a:r>
            <a:r>
              <a:rPr lang="fr-FR" sz="2400" b="0" i="0" dirty="0">
                <a:solidFill>
                  <a:srgbClr val="82AAFF"/>
                </a:solidFill>
                <a:effectLst/>
                <a:latin typeface="source-code-pro"/>
              </a:rPr>
              <a:t> </a:t>
            </a:r>
            <a:r>
              <a:rPr lang="fr-FR" sz="2400" b="0" i="0" dirty="0">
                <a:solidFill>
                  <a:srgbClr val="F78C6C"/>
                </a:solidFill>
                <a:effectLst/>
                <a:latin typeface="source-code-pro"/>
              </a:rPr>
              <a:t>11211</a:t>
            </a:r>
            <a:r>
              <a:rPr lang="fr-FR" sz="2400" b="0" i="0" dirty="0">
                <a:solidFill>
                  <a:srgbClr val="BFC7D5"/>
                </a:solidFill>
                <a:effectLst/>
                <a:latin typeface="source-code-pro"/>
              </a:rPr>
              <a:t>),</a:t>
            </a:r>
            <a:endParaRPr lang="fr-FR" sz="2400" b="0" i="0" dirty="0">
              <a:solidFill>
                <a:srgbClr val="232323"/>
              </a:solidFill>
              <a:effectLst/>
              <a:latin typeface="source-code-pro"/>
            </a:endParaRPr>
          </a:p>
          <a:p>
            <a:pPr lvl="2"/>
            <a:r>
              <a:rPr lang="fr-FR" sz="2400" b="0" i="0" dirty="0">
                <a:solidFill>
                  <a:srgbClr val="D9F5DD"/>
                </a:solidFill>
                <a:effectLst/>
                <a:latin typeface="source-code-pro"/>
              </a:rPr>
              <a:t>'</a:t>
            </a:r>
            <a:r>
              <a:rPr lang="fr-FR" sz="2400" b="0" i="0" dirty="0" err="1">
                <a:solidFill>
                  <a:srgbClr val="C3E88D"/>
                </a:solidFill>
                <a:effectLst/>
                <a:latin typeface="source-code-pro"/>
              </a:rPr>
              <a:t>weight</a:t>
            </a:r>
            <a:r>
              <a:rPr lang="fr-FR" sz="2400" b="0" i="0" dirty="0">
                <a:solidFill>
                  <a:srgbClr val="D9F5DD"/>
                </a:solidFill>
                <a:effectLst/>
                <a:latin typeface="source-code-pro"/>
              </a:rPr>
              <a:t>'</a:t>
            </a:r>
            <a:r>
              <a:rPr lang="fr-FR" sz="2400" b="0" i="0" dirty="0">
                <a:solidFill>
                  <a:srgbClr val="BFC7D5"/>
                </a:solidFill>
                <a:effectLst/>
                <a:latin typeface="source-code-pro"/>
              </a:rPr>
              <a:t> </a:t>
            </a:r>
            <a:r>
              <a:rPr lang="fr-FR" sz="2400" b="0" i="0" dirty="0">
                <a:solidFill>
                  <a:srgbClr val="89DDFF"/>
                </a:solidFill>
                <a:effectLst/>
                <a:latin typeface="source-code-pro"/>
              </a:rPr>
              <a:t>=&gt;</a:t>
            </a:r>
            <a:r>
              <a:rPr lang="fr-FR" sz="2400" b="0" i="0" dirty="0">
                <a:solidFill>
                  <a:srgbClr val="BFC7D5"/>
                </a:solidFill>
                <a:effectLst/>
                <a:latin typeface="source-code-pro"/>
              </a:rPr>
              <a:t> </a:t>
            </a:r>
            <a:r>
              <a:rPr lang="fr-FR" sz="2400" b="0" i="0" dirty="0">
                <a:solidFill>
                  <a:srgbClr val="F78C6C"/>
                </a:solidFill>
                <a:effectLst/>
                <a:latin typeface="source-code-pro"/>
              </a:rPr>
              <a:t>100</a:t>
            </a:r>
            <a:r>
              <a:rPr lang="fr-FR" sz="2400" b="0" i="0" dirty="0">
                <a:solidFill>
                  <a:srgbClr val="BFC7D5"/>
                </a:solidFill>
                <a:effectLst/>
                <a:latin typeface="source-code-pro"/>
              </a:rPr>
              <a:t>,</a:t>
            </a:r>
            <a:endParaRPr lang="fr-FR" sz="2400" b="0" i="0" dirty="0">
              <a:solidFill>
                <a:srgbClr val="232323"/>
              </a:solidFill>
              <a:effectLst/>
              <a:latin typeface="source-code-pro"/>
            </a:endParaRPr>
          </a:p>
          <a:p>
            <a:pPr lvl="1"/>
            <a:r>
              <a:rPr lang="fr-FR" sz="2400" b="0" i="0" dirty="0">
                <a:solidFill>
                  <a:srgbClr val="BFC7D5"/>
                </a:solidFill>
                <a:effectLst/>
                <a:latin typeface="source-code-pro"/>
              </a:rPr>
              <a:t>],</a:t>
            </a:r>
            <a:endParaRPr lang="fr-FR" sz="2400" b="0" i="0" dirty="0">
              <a:solidFill>
                <a:srgbClr val="232323"/>
              </a:solidFill>
              <a:effectLst/>
              <a:latin typeface="source-code-pro"/>
            </a:endParaRPr>
          </a:p>
          <a:p>
            <a:pPr lvl="1"/>
            <a:r>
              <a:rPr lang="fr-FR" sz="2400" b="0" i="0" dirty="0">
                <a:solidFill>
                  <a:srgbClr val="BFC7D5"/>
                </a:solidFill>
                <a:effectLst/>
                <a:latin typeface="source-code-pro"/>
              </a:rPr>
              <a:t>],</a:t>
            </a:r>
            <a:endParaRPr lang="fr-FR" sz="2400" b="0" i="0" dirty="0">
              <a:solidFill>
                <a:srgbClr val="232323"/>
              </a:solidFill>
              <a:effectLst/>
              <a:latin typeface="source-code-pro"/>
            </a:endParaRPr>
          </a:p>
          <a:p>
            <a:pPr algn="l"/>
            <a:r>
              <a:rPr lang="fr-FR" sz="2400" b="0" i="0" dirty="0">
                <a:solidFill>
                  <a:srgbClr val="BFC7D5"/>
                </a:solidFill>
                <a:effectLst/>
                <a:latin typeface="source-code-pro"/>
              </a:rPr>
              <a:t>],</a:t>
            </a:r>
            <a:endParaRPr lang="fr-FR" sz="2400" b="0" i="0" dirty="0">
              <a:solidFill>
                <a:srgbClr val="232323"/>
              </a:solidFill>
              <a:effectLst/>
              <a:latin typeface="source-code-pro"/>
            </a:endParaRPr>
          </a:p>
        </p:txBody>
      </p:sp>
    </p:spTree>
    <p:extLst>
      <p:ext uri="{BB962C8B-B14F-4D97-AF65-F5344CB8AC3E}">
        <p14:creationId xmlns:p14="http://schemas.microsoft.com/office/powerpoint/2010/main" val="222079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lstStyle/>
          <a:p>
            <a:r>
              <a:rPr lang="fr-FR" b="1" dirty="0"/>
              <a:t>Les prérequis (Redis)</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Avant d'utiliser un cache </a:t>
            </a:r>
            <a:r>
              <a:rPr lang="fr-FR" sz="3200" b="1" dirty="0">
                <a:latin typeface="Garamond" panose="02020404030301010803" pitchFamily="18" charset="0"/>
              </a:rPr>
              <a:t>Redis</a:t>
            </a:r>
            <a:r>
              <a:rPr lang="fr-FR" sz="3200" dirty="0">
                <a:latin typeface="Garamond" panose="02020404030301010803" pitchFamily="18" charset="0"/>
              </a:rPr>
              <a:t> avec Laravel, vous devez soit installer l'extension </a:t>
            </a:r>
            <a:r>
              <a:rPr lang="fr-FR" sz="3200" b="1" dirty="0" err="1">
                <a:latin typeface="Garamond" panose="02020404030301010803" pitchFamily="18" charset="0"/>
              </a:rPr>
              <a:t>PhpRedis</a:t>
            </a:r>
            <a:r>
              <a:rPr lang="fr-FR" sz="3200" dirty="0">
                <a:latin typeface="Garamond" panose="02020404030301010803" pitchFamily="18" charset="0"/>
              </a:rPr>
              <a:t> via PECL, soit installer le paquet </a:t>
            </a:r>
            <a:r>
              <a:rPr lang="fr-FR" sz="3200" b="1" dirty="0">
                <a:latin typeface="Garamond" panose="02020404030301010803" pitchFamily="18" charset="0"/>
              </a:rPr>
              <a:t>predis/predis </a:t>
            </a:r>
            <a:r>
              <a:rPr lang="fr-FR" sz="3200" dirty="0">
                <a:latin typeface="Garamond" panose="02020404030301010803" pitchFamily="18" charset="0"/>
              </a:rPr>
              <a:t>via Composer.</a:t>
            </a:r>
          </a:p>
        </p:txBody>
      </p:sp>
      <p:pic>
        <p:nvPicPr>
          <p:cNvPr id="2050" name="Picture 2" descr="Picture background">
            <a:extLst>
              <a:ext uri="{FF2B5EF4-FFF2-40B4-BE49-F238E27FC236}">
                <a16:creationId xmlns:a16="http://schemas.microsoft.com/office/drawing/2014/main" id="{E5DAD488-8068-3D84-E103-570E72E2D9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449" y="3310977"/>
            <a:ext cx="7207102" cy="2162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502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lstStyle/>
          <a:p>
            <a:r>
              <a:rPr lang="fr-FR" b="1" dirty="0"/>
              <a:t>Les prérequis (</a:t>
            </a:r>
            <a:r>
              <a:rPr lang="fr-FR" b="1" dirty="0" err="1"/>
              <a:t>DynamoDB</a:t>
            </a:r>
            <a:r>
              <a:rPr lang="fr-FR" b="1" dirty="0"/>
              <a:t>)</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Avant d'utiliser le pilote de cache </a:t>
            </a:r>
            <a:r>
              <a:rPr lang="fr-FR" sz="3200" b="1" dirty="0" err="1">
                <a:latin typeface="Garamond" panose="02020404030301010803" pitchFamily="18" charset="0"/>
              </a:rPr>
              <a:t>DynamoDB</a:t>
            </a:r>
            <a:r>
              <a:rPr lang="fr-FR" sz="3200" dirty="0">
                <a:latin typeface="Garamond" panose="02020404030301010803" pitchFamily="18" charset="0"/>
              </a:rPr>
              <a:t>, vous devez créer une table </a:t>
            </a:r>
            <a:r>
              <a:rPr lang="fr-FR" sz="3200" dirty="0" err="1">
                <a:latin typeface="Garamond" panose="02020404030301010803" pitchFamily="18" charset="0"/>
              </a:rPr>
              <a:t>DynamoDB</a:t>
            </a:r>
            <a:r>
              <a:rPr lang="fr-FR" sz="3200" dirty="0">
                <a:latin typeface="Garamond" panose="02020404030301010803" pitchFamily="18" charset="0"/>
              </a:rPr>
              <a:t> pour stocker toutes les données mises en cache. En général, cette table doit être nommée </a:t>
            </a:r>
            <a:r>
              <a:rPr lang="fr-FR" sz="3200" b="1" dirty="0">
                <a:latin typeface="Garamond" panose="02020404030301010803" pitchFamily="18" charset="0"/>
              </a:rPr>
              <a:t>cache</a:t>
            </a:r>
            <a:r>
              <a:rPr lang="fr-FR" sz="3200" dirty="0">
                <a:latin typeface="Garamond" panose="02020404030301010803" pitchFamily="18" charset="0"/>
              </a:rPr>
              <a:t>. Cependant, vous devez nommer la table en fonction de la valeur de la configuration </a:t>
            </a:r>
            <a:r>
              <a:rPr lang="fr-FR" sz="3200" b="1" dirty="0" err="1">
                <a:latin typeface="Garamond" panose="02020404030301010803" pitchFamily="18" charset="0"/>
              </a:rPr>
              <a:t>stores.dynamodb.table</a:t>
            </a:r>
            <a:r>
              <a:rPr lang="fr-FR" sz="3200" b="1" dirty="0">
                <a:latin typeface="Garamond" panose="02020404030301010803" pitchFamily="18" charset="0"/>
              </a:rPr>
              <a:t> </a:t>
            </a:r>
            <a:r>
              <a:rPr lang="fr-FR" sz="3200" dirty="0">
                <a:latin typeface="Garamond" panose="02020404030301010803" pitchFamily="18" charset="0"/>
              </a:rPr>
              <a:t>dans le fichier de configuration du cache de votre application.</a:t>
            </a:r>
          </a:p>
          <a:p>
            <a:pPr marL="0" indent="0">
              <a:buNone/>
            </a:pPr>
            <a:r>
              <a:rPr lang="fr-FR" sz="3200" dirty="0">
                <a:latin typeface="Garamond" panose="02020404030301010803" pitchFamily="18" charset="0"/>
              </a:rPr>
              <a:t>Cette table doit également posséder une clé de partition de type chaîne de caractères dont le nom correspond à la valeur de l'élément de configuration </a:t>
            </a:r>
            <a:r>
              <a:rPr lang="fr-FR" sz="3200" b="1" dirty="0" err="1">
                <a:latin typeface="Garamond" panose="02020404030301010803" pitchFamily="18" charset="0"/>
              </a:rPr>
              <a:t>stores.dynamodb.attributes.key</a:t>
            </a:r>
            <a:r>
              <a:rPr lang="fr-FR" sz="3200" b="1" dirty="0">
                <a:latin typeface="Garamond" panose="02020404030301010803" pitchFamily="18" charset="0"/>
              </a:rPr>
              <a:t> </a:t>
            </a:r>
            <a:r>
              <a:rPr lang="fr-FR" sz="3200" dirty="0">
                <a:latin typeface="Garamond" panose="02020404030301010803" pitchFamily="18" charset="0"/>
              </a:rPr>
              <a:t>dans le fichier de configuration du cache de votre application. Par défaut, la clé de partition doit être nommée </a:t>
            </a:r>
            <a:r>
              <a:rPr lang="fr-FR" sz="3200" b="1" dirty="0">
                <a:latin typeface="Garamond" panose="02020404030301010803" pitchFamily="18" charset="0"/>
              </a:rPr>
              <a:t>key</a:t>
            </a:r>
            <a:r>
              <a:rPr lang="fr-FR" sz="3200" dirty="0">
                <a:latin typeface="Garamond" panose="02020404030301010803" pitchFamily="18" charset="0"/>
              </a:rPr>
              <a:t>.</a:t>
            </a:r>
          </a:p>
        </p:txBody>
      </p:sp>
    </p:spTree>
    <p:extLst>
      <p:ext uri="{BB962C8B-B14F-4D97-AF65-F5344CB8AC3E}">
        <p14:creationId xmlns:p14="http://schemas.microsoft.com/office/powerpoint/2010/main" val="4132364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C835906-2E20-1310-A859-74CFCEBAA31F}"/>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6000" b="1" i="0" kern="1200" cap="all" baseline="0" dirty="0" err="1">
                <a:solidFill>
                  <a:schemeClr val="bg1"/>
                </a:solidFill>
                <a:latin typeface="+mj-lt"/>
                <a:ea typeface="+mj-ea"/>
                <a:cs typeface="+mj-cs"/>
              </a:rPr>
              <a:t>Utilisation</a:t>
            </a:r>
            <a:r>
              <a:rPr lang="en-US" sz="6000" b="1" i="0" kern="1200" cap="all" baseline="0" dirty="0">
                <a:solidFill>
                  <a:schemeClr val="bg1"/>
                </a:solidFill>
                <a:latin typeface="+mj-lt"/>
                <a:ea typeface="+mj-ea"/>
                <a:cs typeface="+mj-cs"/>
              </a:rPr>
              <a:t> du cache</a:t>
            </a:r>
          </a:p>
        </p:txBody>
      </p:sp>
      <p:sp>
        <p:nvSpPr>
          <p:cNvPr id="12"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a:p>
        </p:txBody>
      </p:sp>
      <p:sp>
        <p:nvSpPr>
          <p:cNvPr id="14"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16"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sp>
        <p:nvSpPr>
          <p:cNvPr id="18"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endParaRPr lang="en-US"/>
          </a:p>
        </p:txBody>
      </p:sp>
      <p:sp>
        <p:nvSpPr>
          <p:cNvPr id="2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22"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a:p>
        </p:txBody>
      </p:sp>
      <p:cxnSp>
        <p:nvCxnSpPr>
          <p:cNvPr id="24" name="Straight Connector 2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5868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lstStyle/>
          <a:p>
            <a:r>
              <a:rPr lang="fr-FR" b="1" dirty="0"/>
              <a:t>Obtention d'une instance de cache</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Pour obtenir une instance de magasin de cache, vous pouvez utiliser la façade </a:t>
            </a:r>
            <a:r>
              <a:rPr lang="fr-FR" sz="3200" b="1" dirty="0">
                <a:latin typeface="Garamond" panose="02020404030301010803" pitchFamily="18" charset="0"/>
              </a:rPr>
              <a:t>Cache</a:t>
            </a:r>
            <a:r>
              <a:rPr lang="fr-FR" sz="3200" dirty="0">
                <a:latin typeface="Garamond" panose="02020404030301010803" pitchFamily="18" charset="0"/>
              </a:rPr>
              <a:t>, qui est celle que nous utiliserons tout au long de cette documentation. La façade </a:t>
            </a:r>
            <a:r>
              <a:rPr lang="fr-FR" sz="3200" b="1" dirty="0">
                <a:latin typeface="Garamond" panose="02020404030301010803" pitchFamily="18" charset="0"/>
              </a:rPr>
              <a:t>Cache</a:t>
            </a:r>
            <a:r>
              <a:rPr lang="fr-FR" sz="3200" dirty="0">
                <a:latin typeface="Garamond" panose="02020404030301010803" pitchFamily="18" charset="0"/>
              </a:rPr>
              <a:t> fournit un accès pratique et concis aux implémentations sous-jacentes des contrats de cache de Laravel :</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3702838"/>
            <a:ext cx="10376236" cy="2677656"/>
          </a:xfrm>
          <a:prstGeom prst="rect">
            <a:avLst/>
          </a:prstGeom>
          <a:solidFill>
            <a:schemeClr val="tx1">
              <a:lumMod val="85000"/>
              <a:lumOff val="15000"/>
            </a:schemeClr>
          </a:solidFill>
        </p:spPr>
        <p:txBody>
          <a:bodyPr wrap="square">
            <a:spAutoFit/>
          </a:bodyPr>
          <a:lstStyle/>
          <a:p>
            <a:pPr algn="l"/>
            <a:r>
              <a:rPr lang="en-US" sz="2800" b="0" i="0" dirty="0">
                <a:solidFill>
                  <a:srgbClr val="C792EA"/>
                </a:solidFill>
                <a:effectLst/>
                <a:latin typeface="source-code-pro"/>
              </a:rPr>
              <a:t>public</a:t>
            </a:r>
            <a:r>
              <a:rPr lang="en-US" sz="2800" b="0" i="0" dirty="0">
                <a:solidFill>
                  <a:srgbClr val="BFC7D5"/>
                </a:solidFill>
                <a:effectLst/>
                <a:latin typeface="source-code-pro"/>
              </a:rPr>
              <a:t> </a:t>
            </a:r>
            <a:r>
              <a:rPr lang="en-US" sz="2800" b="0" i="0" dirty="0">
                <a:solidFill>
                  <a:srgbClr val="C792EA"/>
                </a:solidFill>
                <a:effectLst/>
                <a:latin typeface="source-code-pro"/>
              </a:rPr>
              <a:t>function</a:t>
            </a:r>
            <a:r>
              <a:rPr lang="en-US" sz="2800" b="0" i="0" dirty="0">
                <a:solidFill>
                  <a:srgbClr val="BFC7D5"/>
                </a:solidFill>
                <a:effectLst/>
                <a:latin typeface="source-code-pro"/>
              </a:rPr>
              <a:t> </a:t>
            </a:r>
            <a:r>
              <a:rPr lang="en-US" sz="2800" b="0" i="0" dirty="0">
                <a:solidFill>
                  <a:srgbClr val="82AAFF"/>
                </a:solidFill>
                <a:effectLst/>
                <a:latin typeface="source-code-pro"/>
              </a:rPr>
              <a:t>index</a:t>
            </a:r>
            <a:r>
              <a:rPr lang="en-US" sz="2800" b="0" i="0" dirty="0">
                <a:solidFill>
                  <a:srgbClr val="D9F5DD"/>
                </a:solidFill>
                <a:effectLst/>
                <a:latin typeface="source-code-pro"/>
              </a:rPr>
              <a:t>()</a:t>
            </a:r>
            <a:endParaRPr lang="en-US" sz="2800" b="0" i="0" dirty="0">
              <a:solidFill>
                <a:srgbClr val="BFC7D5"/>
              </a:solidFill>
              <a:effectLst/>
              <a:latin typeface="source-code-pro"/>
            </a:endParaRPr>
          </a:p>
          <a:p>
            <a:pPr algn="l"/>
            <a:r>
              <a:rPr lang="en-US" sz="2800" b="0" i="0" dirty="0">
                <a:solidFill>
                  <a:srgbClr val="BFC7D5"/>
                </a:solidFill>
                <a:effectLst/>
                <a:latin typeface="source-code-pro"/>
              </a:rPr>
              <a:t>{</a:t>
            </a:r>
            <a:endParaRPr lang="en-US" sz="2800" b="0" i="0" dirty="0">
              <a:solidFill>
                <a:srgbClr val="232323"/>
              </a:solidFill>
              <a:effectLst/>
              <a:latin typeface="source-code-pro"/>
            </a:endParaRPr>
          </a:p>
          <a:p>
            <a:pPr lvl="1"/>
            <a:r>
              <a:rPr lang="en-US" sz="2800" b="0" i="0" dirty="0">
                <a:solidFill>
                  <a:srgbClr val="BEC5D4"/>
                </a:solidFill>
                <a:effectLst/>
                <a:latin typeface="source-code-pro"/>
              </a:rPr>
              <a:t>$value</a:t>
            </a:r>
            <a:r>
              <a:rPr lang="en-US" sz="2800" b="0" i="0" dirty="0">
                <a:solidFill>
                  <a:srgbClr val="BFC7D5"/>
                </a:solidFill>
                <a:effectLst/>
                <a:latin typeface="source-code-pro"/>
              </a:rPr>
              <a:t> </a:t>
            </a:r>
            <a:r>
              <a:rPr lang="en-US" sz="2800" b="0" i="0" dirty="0">
                <a:solidFill>
                  <a:srgbClr val="C792EA"/>
                </a:solidFill>
                <a:effectLst/>
                <a:latin typeface="source-code-pro"/>
              </a:rPr>
              <a:t>=</a:t>
            </a:r>
            <a:r>
              <a:rPr lang="en-US" sz="2800" b="0" i="0" dirty="0">
                <a:solidFill>
                  <a:srgbClr val="BFC7D5"/>
                </a:solidFill>
                <a:effectLst/>
                <a:latin typeface="source-code-pro"/>
              </a:rPr>
              <a:t> </a:t>
            </a:r>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get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a:t>
            </a:r>
            <a:endParaRPr lang="en-US" sz="2800" b="0" i="0" dirty="0">
              <a:solidFill>
                <a:srgbClr val="232323"/>
              </a:solidFill>
              <a:effectLst/>
              <a:latin typeface="source-code-pro"/>
            </a:endParaRPr>
          </a:p>
          <a:p>
            <a:pPr lvl="1"/>
            <a:r>
              <a:rPr lang="en-US" sz="2800" b="0" i="0" dirty="0">
                <a:solidFill>
                  <a:srgbClr val="232323"/>
                </a:solidFill>
                <a:effectLst/>
                <a:latin typeface="source-code-pro"/>
              </a:rPr>
              <a:t> </a:t>
            </a:r>
          </a:p>
          <a:p>
            <a:pPr lvl="1"/>
            <a:r>
              <a:rPr lang="en-US" sz="2800" b="0" i="0" dirty="0">
                <a:solidFill>
                  <a:srgbClr val="697098"/>
                </a:solidFill>
                <a:effectLst/>
                <a:latin typeface="source-code-pro"/>
              </a:rPr>
              <a:t>//</a:t>
            </a:r>
            <a:endParaRPr lang="en-US" sz="2800" b="0" i="0" dirty="0">
              <a:solidFill>
                <a:srgbClr val="232323"/>
              </a:solidFill>
              <a:effectLst/>
              <a:latin typeface="source-code-pro"/>
            </a:endParaRPr>
          </a:p>
          <a:p>
            <a:pPr algn="l"/>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2360454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lstStyle/>
          <a:p>
            <a:r>
              <a:rPr lang="fr-FR" b="1" dirty="0"/>
              <a:t>Accès à plusieurs mémoires cache</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À l'aide de la façade </a:t>
            </a:r>
            <a:r>
              <a:rPr lang="fr-FR" sz="3200" b="1" dirty="0">
                <a:latin typeface="Garamond" panose="02020404030301010803" pitchFamily="18" charset="0"/>
              </a:rPr>
              <a:t>Cache</a:t>
            </a:r>
            <a:r>
              <a:rPr lang="fr-FR" sz="3200" dirty="0">
                <a:latin typeface="Garamond" panose="02020404030301010803" pitchFamily="18" charset="0"/>
              </a:rPr>
              <a:t>, vous pouvez accéder à divers magasins de cache via la méthode </a:t>
            </a:r>
            <a:r>
              <a:rPr lang="fr-FR" sz="3200" b="1" dirty="0">
                <a:latin typeface="Garamond" panose="02020404030301010803" pitchFamily="18" charset="0"/>
              </a:rPr>
              <a:t>store</a:t>
            </a:r>
            <a:r>
              <a:rPr lang="fr-FR" sz="3200" dirty="0">
                <a:latin typeface="Garamond" panose="02020404030301010803" pitchFamily="18" charset="0"/>
              </a:rPr>
              <a:t>. La clé transmise à la méthode store doit correspondre à l'un des magasins répertoriés dans le tableau de configuration des magasins de votre fichier de configuration du cache :</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3702838"/>
            <a:ext cx="10376236" cy="1384995"/>
          </a:xfrm>
          <a:prstGeom prst="rect">
            <a:avLst/>
          </a:prstGeom>
          <a:solidFill>
            <a:schemeClr val="tx1">
              <a:lumMod val="85000"/>
              <a:lumOff val="15000"/>
            </a:schemeClr>
          </a:solidFill>
        </p:spPr>
        <p:txBody>
          <a:bodyPr wrap="square">
            <a:spAutoFit/>
          </a:bodyPr>
          <a:lstStyle/>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store</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file</a:t>
            </a:r>
            <a:r>
              <a:rPr lang="en-US" sz="2800" b="0" i="0" dirty="0">
                <a:solidFill>
                  <a:srgbClr val="D9F5DD"/>
                </a:solidFill>
                <a:effectLst/>
                <a:latin typeface="source-code-pro"/>
              </a:rPr>
              <a:t>’</a:t>
            </a:r>
            <a:r>
              <a:rPr lang="en-US" sz="2800" b="0" i="0" dirty="0">
                <a:solidFill>
                  <a:srgbClr val="BFC7D5"/>
                </a:solidFill>
                <a:effectLst/>
                <a:latin typeface="source-code-pro"/>
              </a:rPr>
              <a:t>)</a:t>
            </a:r>
            <a:r>
              <a:rPr lang="en-US" sz="2800" b="0" i="0" dirty="0">
                <a:solidFill>
                  <a:srgbClr val="89DDFF"/>
                </a:solidFill>
                <a:effectLst/>
                <a:latin typeface="source-code-pro"/>
              </a:rPr>
              <a:t>-&gt;</a:t>
            </a:r>
            <a:r>
              <a:rPr lang="en-US" sz="2800" b="0" i="0" dirty="0">
                <a:solidFill>
                  <a:srgbClr val="82AAFF"/>
                </a:solidFill>
                <a:effectLst/>
                <a:latin typeface="source-code-pro"/>
              </a:rPr>
              <a:t>put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foo</a:t>
            </a:r>
            <a:r>
              <a:rPr lang="en-US" sz="2800" b="0" i="0" dirty="0">
                <a:solidFill>
                  <a:srgbClr val="D9F5DD"/>
                </a:solidFill>
                <a:effectLst/>
                <a:latin typeface="source-code-pro"/>
              </a:rPr>
              <a:t>'</a:t>
            </a:r>
            <a:r>
              <a:rPr lang="en-US" sz="2800" b="0" i="0" dirty="0">
                <a:solidFill>
                  <a:srgbClr val="BFC7D5"/>
                </a:solidFill>
                <a:effectLst/>
                <a:latin typeface="source-code-pro"/>
              </a:rPr>
              <a:t>);</a:t>
            </a:r>
            <a:endParaRPr lang="en-US" sz="2800" b="0" i="0" dirty="0">
              <a:solidFill>
                <a:srgbClr val="232323"/>
              </a:solidFill>
              <a:effectLst/>
              <a:latin typeface="source-code-pro"/>
            </a:endParaRPr>
          </a:p>
          <a:p>
            <a:pPr algn="l"/>
            <a:r>
              <a:rPr lang="en-US" sz="2800" b="0" i="0" dirty="0">
                <a:solidFill>
                  <a:srgbClr val="232323"/>
                </a:solidFill>
                <a:effectLst/>
                <a:latin typeface="source-code-pro"/>
              </a:rPr>
              <a:t> </a:t>
            </a:r>
          </a:p>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store</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err="1">
                <a:solidFill>
                  <a:srgbClr val="C3E88D"/>
                </a:solidFill>
                <a:effectLst/>
                <a:latin typeface="source-code-pro"/>
              </a:rPr>
              <a:t>redis</a:t>
            </a:r>
            <a:r>
              <a:rPr lang="en-US" sz="2800" b="0" i="0" dirty="0">
                <a:solidFill>
                  <a:srgbClr val="D9F5DD"/>
                </a:solidFill>
                <a:effectLst/>
                <a:latin typeface="source-code-pro"/>
              </a:rPr>
              <a:t>'</a:t>
            </a:r>
            <a:r>
              <a:rPr lang="en-US" sz="2800" b="0" i="0" dirty="0">
                <a:solidFill>
                  <a:srgbClr val="BFC7D5"/>
                </a:solidFill>
                <a:effectLst/>
                <a:latin typeface="source-code-pro"/>
              </a:rPr>
              <a:t>)</a:t>
            </a:r>
            <a:r>
              <a:rPr lang="en-US" sz="2800" b="0" i="0" dirty="0">
                <a:solidFill>
                  <a:srgbClr val="89DDFF"/>
                </a:solidFill>
                <a:effectLst/>
                <a:latin typeface="source-code-pro"/>
              </a:rPr>
              <a:t>-&gt;</a:t>
            </a:r>
            <a:r>
              <a:rPr lang="en-US" sz="2800" b="0" i="0" dirty="0">
                <a:solidFill>
                  <a:srgbClr val="82AAFF"/>
                </a:solidFill>
                <a:effectLst/>
                <a:latin typeface="source-code-pro"/>
              </a:rPr>
              <a:t>put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bar</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D9F5DD"/>
                </a:solidFill>
                <a:effectLst/>
                <a:latin typeface="source-code-pro"/>
              </a:rPr>
              <a:t>'</a:t>
            </a:r>
            <a:r>
              <a:rPr lang="en-US" sz="2800" b="0" i="0" dirty="0" err="1">
                <a:solidFill>
                  <a:srgbClr val="C3E88D"/>
                </a:solidFill>
                <a:effectLst/>
                <a:latin typeface="source-code-pro"/>
              </a:rPr>
              <a:t>baz</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F78C6C"/>
                </a:solidFill>
                <a:effectLst/>
                <a:latin typeface="source-code-pro"/>
              </a:rPr>
              <a:t>600</a:t>
            </a:r>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2498307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lstStyle/>
          <a:p>
            <a:r>
              <a:rPr lang="fr-FR" b="1" dirty="0"/>
              <a:t>Récupérer des éléments du cache</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La méthode </a:t>
            </a:r>
            <a:r>
              <a:rPr lang="fr-FR" sz="3200" b="1" dirty="0" err="1">
                <a:latin typeface="Garamond" panose="02020404030301010803" pitchFamily="18" charset="0"/>
              </a:rPr>
              <a:t>get</a:t>
            </a:r>
            <a:r>
              <a:rPr lang="fr-FR" sz="3200" dirty="0">
                <a:latin typeface="Garamond" panose="02020404030301010803" pitchFamily="18" charset="0"/>
              </a:rPr>
              <a:t> de la façade </a:t>
            </a:r>
            <a:r>
              <a:rPr lang="fr-FR" sz="3200" b="1" dirty="0">
                <a:latin typeface="Garamond" panose="02020404030301010803" pitchFamily="18" charset="0"/>
              </a:rPr>
              <a:t>Cache</a:t>
            </a:r>
            <a:r>
              <a:rPr lang="fr-FR" sz="3200" dirty="0">
                <a:latin typeface="Garamond" panose="02020404030301010803" pitchFamily="18" charset="0"/>
              </a:rPr>
              <a:t> est utilisée pour récupérer les éléments du cache. Si l'élément n'existe pas dans le cache, </a:t>
            </a:r>
            <a:r>
              <a:rPr lang="fr-FR" sz="3200" b="1" dirty="0" err="1">
                <a:latin typeface="Garamond" panose="02020404030301010803" pitchFamily="18" charset="0"/>
              </a:rPr>
              <a:t>null</a:t>
            </a:r>
            <a:r>
              <a:rPr lang="fr-FR" sz="3200" dirty="0">
                <a:latin typeface="Garamond" panose="02020404030301010803" pitchFamily="18" charset="0"/>
              </a:rPr>
              <a:t> sera renvoyé. Si vous le souhaitez, vous pouvez passer un deuxième argument à la méthode </a:t>
            </a:r>
            <a:r>
              <a:rPr lang="fr-FR" sz="3200" b="1" dirty="0" err="1">
                <a:latin typeface="Garamond" panose="02020404030301010803" pitchFamily="18" charset="0"/>
              </a:rPr>
              <a:t>get</a:t>
            </a:r>
            <a:r>
              <a:rPr lang="fr-FR" sz="3200" dirty="0">
                <a:latin typeface="Garamond" panose="02020404030301010803" pitchFamily="18" charset="0"/>
              </a:rPr>
              <a:t> en spécifiant la valeur par défaut que vous souhaitez voir retourner si l'élément n'existe pas :</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3702838"/>
            <a:ext cx="10376236" cy="1384995"/>
          </a:xfrm>
          <a:prstGeom prst="rect">
            <a:avLst/>
          </a:prstGeom>
          <a:solidFill>
            <a:schemeClr val="tx1">
              <a:lumMod val="85000"/>
              <a:lumOff val="15000"/>
            </a:schemeClr>
          </a:solidFill>
        </p:spPr>
        <p:txBody>
          <a:bodyPr wrap="square">
            <a:spAutoFit/>
          </a:bodyPr>
          <a:lstStyle/>
          <a:p>
            <a:pPr algn="l"/>
            <a:r>
              <a:rPr lang="en-US" sz="2800" b="0" i="0" dirty="0">
                <a:solidFill>
                  <a:srgbClr val="BEC5D4"/>
                </a:solidFill>
                <a:effectLst/>
                <a:latin typeface="source-code-pro"/>
              </a:rPr>
              <a:t>$value</a:t>
            </a:r>
            <a:r>
              <a:rPr lang="en-US" sz="2800" b="0" i="0" dirty="0">
                <a:solidFill>
                  <a:srgbClr val="BFC7D5"/>
                </a:solidFill>
                <a:effectLst/>
                <a:latin typeface="source-code-pro"/>
              </a:rPr>
              <a:t> </a:t>
            </a:r>
            <a:r>
              <a:rPr lang="en-US" sz="2800" b="0" i="0" dirty="0">
                <a:solidFill>
                  <a:srgbClr val="C792EA"/>
                </a:solidFill>
                <a:effectLst/>
                <a:latin typeface="source-code-pro"/>
              </a:rPr>
              <a:t>=</a:t>
            </a:r>
            <a:r>
              <a:rPr lang="en-US" sz="2800" b="0" i="0" dirty="0">
                <a:solidFill>
                  <a:srgbClr val="BFC7D5"/>
                </a:solidFill>
                <a:effectLst/>
                <a:latin typeface="source-code-pro"/>
              </a:rPr>
              <a:t> </a:t>
            </a:r>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get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a:t>
            </a:r>
            <a:endParaRPr lang="en-US" sz="2800" b="0" i="0" dirty="0">
              <a:solidFill>
                <a:srgbClr val="232323"/>
              </a:solidFill>
              <a:effectLst/>
              <a:latin typeface="source-code-pro"/>
            </a:endParaRPr>
          </a:p>
          <a:p>
            <a:pPr algn="l"/>
            <a:r>
              <a:rPr lang="en-US" sz="2800" b="0" i="0" dirty="0">
                <a:solidFill>
                  <a:srgbClr val="232323"/>
                </a:solidFill>
                <a:effectLst/>
                <a:latin typeface="source-code-pro"/>
              </a:rPr>
              <a:t> </a:t>
            </a:r>
          </a:p>
          <a:p>
            <a:pPr algn="l"/>
            <a:r>
              <a:rPr lang="en-US" sz="2800" b="0" i="0" dirty="0">
                <a:solidFill>
                  <a:srgbClr val="BEC5D4"/>
                </a:solidFill>
                <a:effectLst/>
                <a:latin typeface="source-code-pro"/>
              </a:rPr>
              <a:t>$value</a:t>
            </a:r>
            <a:r>
              <a:rPr lang="en-US" sz="2800" b="0" i="0" dirty="0">
                <a:solidFill>
                  <a:srgbClr val="BFC7D5"/>
                </a:solidFill>
                <a:effectLst/>
                <a:latin typeface="source-code-pro"/>
              </a:rPr>
              <a:t> </a:t>
            </a:r>
            <a:r>
              <a:rPr lang="en-US" sz="2800" b="0" i="0" dirty="0">
                <a:solidFill>
                  <a:srgbClr val="C792EA"/>
                </a:solidFill>
                <a:effectLst/>
                <a:latin typeface="source-code-pro"/>
              </a:rPr>
              <a:t>=</a:t>
            </a:r>
            <a:r>
              <a:rPr lang="en-US" sz="2800" b="0" i="0" dirty="0">
                <a:solidFill>
                  <a:srgbClr val="BFC7D5"/>
                </a:solidFill>
                <a:effectLst/>
                <a:latin typeface="source-code-pro"/>
              </a:rPr>
              <a:t> </a:t>
            </a:r>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get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D9F5DD"/>
                </a:solidFill>
                <a:effectLst/>
                <a:latin typeface="source-code-pro"/>
              </a:rPr>
              <a:t>'</a:t>
            </a:r>
            <a:r>
              <a:rPr lang="en-US" sz="2800" b="0" i="0" dirty="0">
                <a:solidFill>
                  <a:srgbClr val="C3E88D"/>
                </a:solidFill>
                <a:effectLst/>
                <a:latin typeface="source-code-pro"/>
              </a:rPr>
              <a:t>default</a:t>
            </a:r>
            <a:r>
              <a:rPr lang="en-US" sz="2800" b="0" i="0" dirty="0">
                <a:solidFill>
                  <a:srgbClr val="D9F5DD"/>
                </a:solidFill>
                <a:effectLst/>
                <a:latin typeface="source-code-pro"/>
              </a:rPr>
              <a:t>'</a:t>
            </a:r>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852035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lstStyle/>
          <a:p>
            <a:r>
              <a:rPr lang="fr-FR" b="1" dirty="0"/>
              <a:t>Vérification de l'existence d'un élément</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La méthode </a:t>
            </a:r>
            <a:r>
              <a:rPr lang="fr-FR" sz="3200" b="1" dirty="0">
                <a:latin typeface="Garamond" panose="02020404030301010803" pitchFamily="18" charset="0"/>
              </a:rPr>
              <a:t>has</a:t>
            </a:r>
            <a:r>
              <a:rPr lang="fr-FR" sz="3200" dirty="0">
                <a:latin typeface="Garamond" panose="02020404030301010803" pitchFamily="18" charset="0"/>
              </a:rPr>
              <a:t> peut être utilisée pour déterminer si un élément existe dans le cache. Cette méthode renvoie également </a:t>
            </a:r>
            <a:r>
              <a:rPr lang="fr-FR" sz="3200" b="1" dirty="0">
                <a:latin typeface="Garamond" panose="02020404030301010803" pitchFamily="18" charset="0"/>
              </a:rPr>
              <a:t>false</a:t>
            </a:r>
            <a:r>
              <a:rPr lang="fr-FR" sz="3200" dirty="0">
                <a:latin typeface="Garamond" panose="02020404030301010803" pitchFamily="18" charset="0"/>
              </a:rPr>
              <a:t> si l'élément existe mais que sa valeur est </a:t>
            </a:r>
            <a:r>
              <a:rPr lang="fr-FR" sz="3200" b="1" dirty="0">
                <a:latin typeface="Garamond" panose="02020404030301010803" pitchFamily="18" charset="0"/>
              </a:rPr>
              <a:t>nulle</a:t>
            </a:r>
            <a:r>
              <a:rPr lang="fr-FR" sz="3200" dirty="0">
                <a:latin typeface="Garamond" panose="02020404030301010803" pitchFamily="18" charset="0"/>
              </a:rPr>
              <a:t> :</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3702838"/>
            <a:ext cx="10376236" cy="1384995"/>
          </a:xfrm>
          <a:prstGeom prst="rect">
            <a:avLst/>
          </a:prstGeom>
          <a:solidFill>
            <a:schemeClr val="tx1">
              <a:lumMod val="85000"/>
              <a:lumOff val="15000"/>
            </a:schemeClr>
          </a:solidFill>
        </p:spPr>
        <p:txBody>
          <a:bodyPr wrap="square">
            <a:spAutoFit/>
          </a:bodyPr>
          <a:lstStyle/>
          <a:p>
            <a:pPr algn="l"/>
            <a:r>
              <a:rPr lang="en-US" sz="2800" b="0" i="0" dirty="0">
                <a:solidFill>
                  <a:srgbClr val="C792EA"/>
                </a:solidFill>
                <a:effectLst/>
                <a:latin typeface="source-code-pro"/>
              </a:rPr>
              <a:t>if</a:t>
            </a:r>
            <a:r>
              <a:rPr lang="en-US" sz="2800" b="0" i="0" dirty="0">
                <a:solidFill>
                  <a:srgbClr val="BFC7D5"/>
                </a:solidFill>
                <a:effectLst/>
                <a:latin typeface="source-code-pro"/>
              </a:rPr>
              <a:t> (</a:t>
            </a:r>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has</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a:t>
            </a:r>
            <a:endParaRPr lang="en-US" sz="2800" b="0" i="0" dirty="0">
              <a:solidFill>
                <a:srgbClr val="232323"/>
              </a:solidFill>
              <a:effectLst/>
              <a:latin typeface="source-code-pro"/>
            </a:endParaRPr>
          </a:p>
          <a:p>
            <a:pPr algn="l"/>
            <a:r>
              <a:rPr lang="en-US" sz="2800" b="0" i="0" dirty="0">
                <a:solidFill>
                  <a:srgbClr val="697098"/>
                </a:solidFill>
                <a:effectLst/>
                <a:latin typeface="source-code-pro"/>
              </a:rPr>
              <a:t>	//</a:t>
            </a:r>
            <a:endParaRPr lang="en-US" sz="2800" b="0" i="0" dirty="0">
              <a:solidFill>
                <a:srgbClr val="232323"/>
              </a:solidFill>
              <a:effectLst/>
              <a:latin typeface="source-code-pro"/>
            </a:endParaRPr>
          </a:p>
          <a:p>
            <a:pPr algn="l"/>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2897269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normAutofit fontScale="90000"/>
          </a:bodyPr>
          <a:lstStyle/>
          <a:p>
            <a:r>
              <a:rPr lang="fr-FR" b="1" dirty="0"/>
              <a:t>Incrémentation / Décrémentation des valeurs</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Les méthodes </a:t>
            </a:r>
            <a:r>
              <a:rPr lang="fr-FR" sz="3200" b="1" dirty="0" err="1">
                <a:latin typeface="Garamond" panose="02020404030301010803" pitchFamily="18" charset="0"/>
              </a:rPr>
              <a:t>increment</a:t>
            </a:r>
            <a:r>
              <a:rPr lang="fr-FR" sz="3200" dirty="0">
                <a:latin typeface="Garamond" panose="02020404030301010803" pitchFamily="18" charset="0"/>
              </a:rPr>
              <a:t> et </a:t>
            </a:r>
            <a:r>
              <a:rPr lang="fr-FR" sz="3200" b="1" dirty="0" err="1">
                <a:latin typeface="Garamond" panose="02020404030301010803" pitchFamily="18" charset="0"/>
              </a:rPr>
              <a:t>decrement</a:t>
            </a:r>
            <a:r>
              <a:rPr lang="fr-FR" sz="3200" dirty="0">
                <a:latin typeface="Garamond" panose="02020404030301010803" pitchFamily="18" charset="0"/>
              </a:rPr>
              <a:t> peuvent être utilisées pour ajuster la valeur des éléments entiers dans le cache. Ces deux méthodes acceptent un second argument facultatif indiquant la quantité par laquelle incrémenter ou décrémenter la valeur de l'élément :</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3702838"/>
            <a:ext cx="10376236" cy="1815882"/>
          </a:xfrm>
          <a:prstGeom prst="rect">
            <a:avLst/>
          </a:prstGeom>
          <a:solidFill>
            <a:schemeClr val="tx1">
              <a:lumMod val="85000"/>
              <a:lumOff val="15000"/>
            </a:schemeClr>
          </a:solidFill>
        </p:spPr>
        <p:txBody>
          <a:bodyPr wrap="square">
            <a:spAutoFit/>
          </a:bodyPr>
          <a:lstStyle/>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increment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a:t>
            </a:r>
            <a:endParaRPr lang="en-US" sz="2800" b="0" i="0" dirty="0">
              <a:solidFill>
                <a:srgbClr val="232323"/>
              </a:solidFill>
              <a:effectLst/>
              <a:latin typeface="source-code-pro"/>
            </a:endParaRPr>
          </a:p>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increment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BEC5D4"/>
                </a:solidFill>
                <a:effectLst/>
                <a:latin typeface="source-code-pro"/>
              </a:rPr>
              <a:t>$amount</a:t>
            </a:r>
            <a:r>
              <a:rPr lang="en-US" sz="2800" b="0" i="0" dirty="0">
                <a:solidFill>
                  <a:srgbClr val="BFC7D5"/>
                </a:solidFill>
                <a:effectLst/>
                <a:latin typeface="source-code-pro"/>
              </a:rPr>
              <a:t>);</a:t>
            </a:r>
            <a:endParaRPr lang="en-US" sz="2800" b="0" i="0" dirty="0">
              <a:solidFill>
                <a:srgbClr val="232323"/>
              </a:solidFill>
              <a:effectLst/>
              <a:latin typeface="source-code-pro"/>
            </a:endParaRPr>
          </a:p>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decrement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a:t>
            </a:r>
            <a:endParaRPr lang="en-US" sz="2800" b="0" i="0" dirty="0">
              <a:solidFill>
                <a:srgbClr val="232323"/>
              </a:solidFill>
              <a:effectLst/>
              <a:latin typeface="source-code-pro"/>
            </a:endParaRPr>
          </a:p>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decrement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BEC5D4"/>
                </a:solidFill>
                <a:effectLst/>
                <a:latin typeface="source-code-pro"/>
              </a:rPr>
              <a:t>$amount</a:t>
            </a:r>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2715599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normAutofit/>
          </a:bodyPr>
          <a:lstStyle/>
          <a:p>
            <a:r>
              <a:rPr lang="fr-FR" b="1" dirty="0"/>
              <a:t>Récupérer et stocker</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Parfois, vous pouvez souhaiter récupérer un élément dans le cache, </a:t>
            </a:r>
            <a:r>
              <a:rPr lang="fr-FR" sz="3200" u="sng" dirty="0">
                <a:latin typeface="Garamond" panose="02020404030301010803" pitchFamily="18" charset="0"/>
              </a:rPr>
              <a:t>mais aussi stocker une valeur par défaut si l'élément demandé n'existe pas</a:t>
            </a:r>
            <a:r>
              <a:rPr lang="fr-FR" sz="3200" dirty="0">
                <a:latin typeface="Garamond" panose="02020404030301010803" pitchFamily="18" charset="0"/>
              </a:rPr>
              <a:t>. Par exemple, vous pouvez souhaiter récupérer tous les utilisateurs dans le cache ou, s'ils n'existent pas, les récupérer dans la base de données et les ajouter au cache. Vous pouvez le faire en utilisant la méthode </a:t>
            </a:r>
            <a:r>
              <a:rPr lang="fr-FR" sz="3200" b="1" dirty="0">
                <a:latin typeface="Garamond" panose="02020404030301010803" pitchFamily="18" charset="0"/>
              </a:rPr>
              <a:t>Cache::</a:t>
            </a:r>
            <a:r>
              <a:rPr lang="fr-FR" sz="3200" b="1" dirty="0" err="1">
                <a:latin typeface="Garamond" panose="02020404030301010803" pitchFamily="18" charset="0"/>
              </a:rPr>
              <a:t>remember</a:t>
            </a:r>
            <a:r>
              <a:rPr lang="fr-FR" sz="3200" b="1" dirty="0">
                <a:latin typeface="Garamond" panose="02020404030301010803" pitchFamily="18" charset="0"/>
              </a:rPr>
              <a:t> </a:t>
            </a:r>
            <a:r>
              <a:rPr lang="fr-FR" sz="3200" dirty="0">
                <a:latin typeface="Garamond" panose="02020404030301010803" pitchFamily="18" charset="0"/>
              </a:rPr>
              <a:t>:</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4122145"/>
            <a:ext cx="10376236" cy="1384995"/>
          </a:xfrm>
          <a:prstGeom prst="rect">
            <a:avLst/>
          </a:prstGeom>
          <a:solidFill>
            <a:schemeClr val="tx1">
              <a:lumMod val="85000"/>
              <a:lumOff val="15000"/>
            </a:schemeClr>
          </a:solidFill>
        </p:spPr>
        <p:txBody>
          <a:bodyPr wrap="square">
            <a:spAutoFit/>
          </a:bodyPr>
          <a:lstStyle/>
          <a:p>
            <a:pPr algn="l"/>
            <a:r>
              <a:rPr lang="en-US" sz="2800" b="0" i="0" dirty="0">
                <a:solidFill>
                  <a:srgbClr val="BEC5D4"/>
                </a:solidFill>
                <a:effectLst/>
                <a:latin typeface="source-code-pro"/>
              </a:rPr>
              <a:t>$value</a:t>
            </a:r>
            <a:r>
              <a:rPr lang="en-US" sz="2800" b="0" i="0" dirty="0">
                <a:solidFill>
                  <a:srgbClr val="BFC7D5"/>
                </a:solidFill>
                <a:effectLst/>
                <a:latin typeface="source-code-pro"/>
              </a:rPr>
              <a:t> </a:t>
            </a:r>
            <a:r>
              <a:rPr lang="en-US" sz="2800" b="0" i="0" dirty="0">
                <a:solidFill>
                  <a:srgbClr val="C792EA"/>
                </a:solidFill>
                <a:effectLst/>
                <a:latin typeface="source-code-pro"/>
              </a:rPr>
              <a:t>=</a:t>
            </a:r>
            <a:r>
              <a:rPr lang="en-US" sz="2800" b="0" i="0" dirty="0">
                <a:solidFill>
                  <a:srgbClr val="BFC7D5"/>
                </a:solidFill>
                <a:effectLst/>
                <a:latin typeface="source-code-pro"/>
              </a:rPr>
              <a:t> </a:t>
            </a:r>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remember</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users</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BEC5D4"/>
                </a:solidFill>
                <a:effectLst/>
                <a:latin typeface="source-code-pro"/>
              </a:rPr>
              <a:t>$seconds</a:t>
            </a:r>
            <a:r>
              <a:rPr lang="en-US" sz="2800" b="0" i="0" dirty="0">
                <a:solidFill>
                  <a:srgbClr val="BFC7D5"/>
                </a:solidFill>
                <a:effectLst/>
                <a:latin typeface="source-code-pro"/>
              </a:rPr>
              <a:t>, </a:t>
            </a:r>
            <a:r>
              <a:rPr lang="en-US" sz="2800" b="0" i="0" dirty="0">
                <a:solidFill>
                  <a:srgbClr val="C792EA"/>
                </a:solidFill>
                <a:effectLst/>
                <a:latin typeface="source-code-pro"/>
              </a:rPr>
              <a:t>function</a:t>
            </a:r>
            <a:r>
              <a:rPr lang="en-US" sz="2800" b="0" i="0" dirty="0">
                <a:solidFill>
                  <a:srgbClr val="BFC7D5"/>
                </a:solidFill>
                <a:effectLst/>
                <a:latin typeface="source-code-pro"/>
              </a:rPr>
              <a:t> </a:t>
            </a:r>
            <a:r>
              <a:rPr lang="en-US" sz="2800" b="0" i="0" dirty="0">
                <a:solidFill>
                  <a:srgbClr val="D9F5DD"/>
                </a:solidFill>
                <a:effectLst/>
                <a:latin typeface="source-code-pro"/>
              </a:rPr>
              <a:t>()</a:t>
            </a:r>
            <a:r>
              <a:rPr lang="en-US" sz="2800" b="0" i="0" dirty="0">
                <a:solidFill>
                  <a:srgbClr val="BFC7D5"/>
                </a:solidFill>
                <a:effectLst/>
                <a:latin typeface="source-code-pro"/>
              </a:rPr>
              <a:t> {</a:t>
            </a:r>
            <a:endParaRPr lang="en-US" sz="2800" b="0" i="0" dirty="0">
              <a:solidFill>
                <a:srgbClr val="232323"/>
              </a:solidFill>
              <a:effectLst/>
              <a:latin typeface="source-code-pro"/>
            </a:endParaRPr>
          </a:p>
          <a:p>
            <a:pPr algn="l"/>
            <a:r>
              <a:rPr lang="en-US" sz="2800" b="0" i="0" dirty="0">
                <a:solidFill>
                  <a:srgbClr val="C792EA"/>
                </a:solidFill>
                <a:effectLst/>
                <a:latin typeface="source-code-pro"/>
              </a:rPr>
              <a:t>	return</a:t>
            </a:r>
            <a:r>
              <a:rPr lang="en-US" sz="2800" b="0" i="0" dirty="0">
                <a:solidFill>
                  <a:srgbClr val="BFC7D5"/>
                </a:solidFill>
                <a:effectLst/>
                <a:latin typeface="source-code-pro"/>
              </a:rPr>
              <a:t> </a:t>
            </a:r>
            <a:r>
              <a:rPr lang="en-US" sz="2800" b="0" i="0" dirty="0">
                <a:solidFill>
                  <a:srgbClr val="FFCB8B"/>
                </a:solidFill>
                <a:effectLst/>
                <a:latin typeface="source-code-pro"/>
              </a:rPr>
              <a:t>DB</a:t>
            </a:r>
            <a:r>
              <a:rPr lang="en-US" sz="2800" b="0" i="0" dirty="0">
                <a:solidFill>
                  <a:srgbClr val="89DDFF"/>
                </a:solidFill>
                <a:effectLst/>
                <a:latin typeface="source-code-pro"/>
              </a:rPr>
              <a:t>::</a:t>
            </a:r>
            <a:r>
              <a:rPr lang="en-US" sz="2800" b="0" i="0" dirty="0">
                <a:solidFill>
                  <a:srgbClr val="82AAFF"/>
                </a:solidFill>
                <a:effectLst/>
                <a:latin typeface="source-code-pro"/>
              </a:rPr>
              <a:t>table</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users</a:t>
            </a:r>
            <a:r>
              <a:rPr lang="en-US" sz="2800" b="0" i="0" dirty="0">
                <a:solidFill>
                  <a:srgbClr val="D9F5DD"/>
                </a:solidFill>
                <a:effectLst/>
                <a:latin typeface="source-code-pro"/>
              </a:rPr>
              <a:t>'</a:t>
            </a:r>
            <a:r>
              <a:rPr lang="en-US" sz="2800" b="0" i="0" dirty="0">
                <a:solidFill>
                  <a:srgbClr val="BFC7D5"/>
                </a:solidFill>
                <a:effectLst/>
                <a:latin typeface="source-code-pro"/>
              </a:rPr>
              <a:t>)</a:t>
            </a:r>
            <a:r>
              <a:rPr lang="en-US" sz="2800" b="0" i="0" dirty="0">
                <a:solidFill>
                  <a:srgbClr val="89DDFF"/>
                </a:solidFill>
                <a:effectLst/>
                <a:latin typeface="source-code-pro"/>
              </a:rPr>
              <a:t>-&gt;</a:t>
            </a:r>
            <a:r>
              <a:rPr lang="en-US" sz="2800" b="0" i="0" dirty="0">
                <a:solidFill>
                  <a:srgbClr val="82AAFF"/>
                </a:solidFill>
                <a:effectLst/>
                <a:latin typeface="source-code-pro"/>
              </a:rPr>
              <a:t>get</a:t>
            </a:r>
            <a:r>
              <a:rPr lang="en-US" sz="2800" b="0" i="0" dirty="0">
                <a:solidFill>
                  <a:srgbClr val="BFC7D5"/>
                </a:solidFill>
                <a:effectLst/>
                <a:latin typeface="source-code-pro"/>
              </a:rPr>
              <a:t>();</a:t>
            </a:r>
            <a:endParaRPr lang="en-US" sz="2800" b="0" i="0" dirty="0">
              <a:solidFill>
                <a:srgbClr val="232323"/>
              </a:solidFill>
              <a:effectLst/>
              <a:latin typeface="source-code-pro"/>
            </a:endParaRPr>
          </a:p>
          <a:p>
            <a:pPr algn="l"/>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4155160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normAutofit/>
          </a:bodyPr>
          <a:lstStyle/>
          <a:p>
            <a:r>
              <a:rPr lang="fr-FR" b="1" dirty="0"/>
              <a:t>Récupérer et supprimer</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Si vous devez récupérer un élément dans le cache et </a:t>
            </a:r>
            <a:r>
              <a:rPr lang="fr-FR" sz="3200" u="sng" dirty="0">
                <a:latin typeface="Garamond" panose="02020404030301010803" pitchFamily="18" charset="0"/>
              </a:rPr>
              <a:t>ensuite le supprimer</a:t>
            </a:r>
            <a:r>
              <a:rPr lang="fr-FR" sz="3200" dirty="0">
                <a:latin typeface="Garamond" panose="02020404030301010803" pitchFamily="18" charset="0"/>
              </a:rPr>
              <a:t>, vous pouvez utiliser la méthode </a:t>
            </a:r>
            <a:r>
              <a:rPr lang="fr-FR" sz="3200" b="1" dirty="0">
                <a:latin typeface="Garamond" panose="02020404030301010803" pitchFamily="18" charset="0"/>
              </a:rPr>
              <a:t>pull</a:t>
            </a:r>
            <a:r>
              <a:rPr lang="fr-FR" sz="3200" dirty="0">
                <a:latin typeface="Garamond" panose="02020404030301010803" pitchFamily="18" charset="0"/>
              </a:rPr>
              <a:t>. Comme pour la méthode </a:t>
            </a:r>
            <a:r>
              <a:rPr lang="fr-FR" sz="3200" dirty="0" err="1">
                <a:latin typeface="Garamond" panose="02020404030301010803" pitchFamily="18" charset="0"/>
              </a:rPr>
              <a:t>get</a:t>
            </a:r>
            <a:r>
              <a:rPr lang="fr-FR" sz="3200" dirty="0">
                <a:latin typeface="Garamond" panose="02020404030301010803" pitchFamily="18" charset="0"/>
              </a:rPr>
              <a:t>, </a:t>
            </a:r>
            <a:r>
              <a:rPr lang="fr-FR" sz="3200" dirty="0" err="1">
                <a:latin typeface="Garamond" panose="02020404030301010803" pitchFamily="18" charset="0"/>
              </a:rPr>
              <a:t>null</a:t>
            </a:r>
            <a:r>
              <a:rPr lang="fr-FR" sz="3200" dirty="0">
                <a:latin typeface="Garamond" panose="02020404030301010803" pitchFamily="18" charset="0"/>
              </a:rPr>
              <a:t> sera renvoyé si l'élément n'existe pas dans le cache :</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4122145"/>
            <a:ext cx="10376236" cy="523220"/>
          </a:xfrm>
          <a:prstGeom prst="rect">
            <a:avLst/>
          </a:prstGeom>
          <a:solidFill>
            <a:schemeClr val="tx1">
              <a:lumMod val="85000"/>
              <a:lumOff val="15000"/>
            </a:schemeClr>
          </a:solidFill>
        </p:spPr>
        <p:txBody>
          <a:bodyPr wrap="square">
            <a:spAutoFit/>
          </a:bodyPr>
          <a:lstStyle/>
          <a:p>
            <a:pPr algn="l"/>
            <a:r>
              <a:rPr lang="en-US" sz="2800" b="0" i="0" dirty="0">
                <a:solidFill>
                  <a:srgbClr val="BEC5D4"/>
                </a:solidFill>
                <a:effectLst/>
                <a:latin typeface="source-code-pro"/>
              </a:rPr>
              <a:t>$value</a:t>
            </a:r>
            <a:r>
              <a:rPr lang="en-US" sz="2800" b="0" i="0" dirty="0">
                <a:solidFill>
                  <a:srgbClr val="BFC7D5"/>
                </a:solidFill>
                <a:effectLst/>
                <a:latin typeface="source-code-pro"/>
              </a:rPr>
              <a:t> </a:t>
            </a:r>
            <a:r>
              <a:rPr lang="en-US" sz="2800" b="0" i="0" dirty="0">
                <a:solidFill>
                  <a:srgbClr val="C792EA"/>
                </a:solidFill>
                <a:effectLst/>
                <a:latin typeface="source-code-pro"/>
              </a:rPr>
              <a:t>=</a:t>
            </a:r>
            <a:r>
              <a:rPr lang="en-US" sz="2800" b="0" i="0" dirty="0">
                <a:solidFill>
                  <a:srgbClr val="BFC7D5"/>
                </a:solidFill>
                <a:effectLst/>
                <a:latin typeface="source-code-pro"/>
              </a:rPr>
              <a:t> </a:t>
            </a:r>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pull</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720264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normAutofit/>
          </a:bodyPr>
          <a:lstStyle/>
          <a:p>
            <a:r>
              <a:rPr lang="fr-FR" b="1" dirty="0"/>
              <a:t>Stockage des éléments dans le cache</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Vous pouvez utiliser la méthode </a:t>
            </a:r>
            <a:r>
              <a:rPr lang="fr-FR" sz="3200" b="1" dirty="0">
                <a:latin typeface="Garamond" panose="02020404030301010803" pitchFamily="18" charset="0"/>
              </a:rPr>
              <a:t>put</a:t>
            </a:r>
            <a:r>
              <a:rPr lang="fr-FR" sz="3200" dirty="0">
                <a:latin typeface="Garamond" panose="02020404030301010803" pitchFamily="18" charset="0"/>
              </a:rPr>
              <a:t> de la façade </a:t>
            </a:r>
            <a:r>
              <a:rPr lang="fr-FR" sz="3200" b="1" dirty="0">
                <a:latin typeface="Garamond" panose="02020404030301010803" pitchFamily="18" charset="0"/>
              </a:rPr>
              <a:t>Cache</a:t>
            </a:r>
            <a:r>
              <a:rPr lang="fr-FR" sz="3200" dirty="0">
                <a:latin typeface="Garamond" panose="02020404030301010803" pitchFamily="18" charset="0"/>
              </a:rPr>
              <a:t> pour stocker des éléments dans le cache :</a:t>
            </a:r>
          </a:p>
          <a:p>
            <a:pPr marL="0" indent="0">
              <a:buNone/>
            </a:pPr>
            <a:endParaRPr lang="fr-FR" sz="3200" dirty="0">
              <a:latin typeface="Garamond" panose="02020404030301010803" pitchFamily="18" charset="0"/>
            </a:endParaRPr>
          </a:p>
          <a:p>
            <a:pPr marL="0" indent="0">
              <a:buNone/>
            </a:pPr>
            <a:endParaRPr lang="fr-FR" sz="3200" dirty="0">
              <a:latin typeface="Garamond" panose="02020404030301010803" pitchFamily="18" charset="0"/>
            </a:endParaRPr>
          </a:p>
          <a:p>
            <a:pPr marL="0" indent="0">
              <a:buNone/>
            </a:pPr>
            <a:r>
              <a:rPr lang="fr-FR" sz="3200" dirty="0">
                <a:latin typeface="Garamond" panose="02020404030301010803" pitchFamily="18" charset="0"/>
              </a:rPr>
              <a:t>Si la durée de stockage n'est pas transmise à la méthode put, l'élément sera stocké indéfiniment :</a:t>
            </a:r>
          </a:p>
          <a:p>
            <a:pPr marL="0" indent="0">
              <a:buNone/>
            </a:pPr>
            <a:endParaRPr lang="fr-FR" sz="3200" dirty="0">
              <a:latin typeface="Garamond" panose="02020404030301010803" pitchFamily="18" charset="0"/>
            </a:endParaRP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2365535"/>
            <a:ext cx="10376236" cy="523220"/>
          </a:xfrm>
          <a:prstGeom prst="rect">
            <a:avLst/>
          </a:prstGeom>
          <a:solidFill>
            <a:schemeClr val="tx1">
              <a:lumMod val="85000"/>
              <a:lumOff val="15000"/>
            </a:schemeClr>
          </a:solidFill>
        </p:spPr>
        <p:txBody>
          <a:bodyPr wrap="square">
            <a:spAutoFit/>
          </a:bodyPr>
          <a:lstStyle/>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put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D9F5DD"/>
                </a:solidFill>
                <a:effectLst/>
                <a:latin typeface="source-code-pro"/>
              </a:rPr>
              <a:t>'</a:t>
            </a:r>
            <a:r>
              <a:rPr lang="en-US" sz="2800" b="0" i="0" dirty="0">
                <a:solidFill>
                  <a:srgbClr val="C3E88D"/>
                </a:solidFill>
                <a:effectLst/>
                <a:latin typeface="source-code-pro"/>
              </a:rPr>
              <a:t>value</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BEC5D4"/>
                </a:solidFill>
                <a:effectLst/>
                <a:latin typeface="source-code-pro"/>
              </a:rPr>
              <a:t>$seconds</a:t>
            </a:r>
            <a:r>
              <a:rPr lang="en-US" sz="2800" b="0" i="0" dirty="0">
                <a:solidFill>
                  <a:srgbClr val="BFC7D5"/>
                </a:solidFill>
                <a:effectLst/>
                <a:latin typeface="source-code-pro"/>
              </a:rPr>
              <a:t> </a:t>
            </a:r>
            <a:r>
              <a:rPr lang="en-US" sz="2800" b="0" i="0" dirty="0">
                <a:solidFill>
                  <a:srgbClr val="C792EA"/>
                </a:solidFill>
                <a:effectLst/>
                <a:latin typeface="source-code-pro"/>
              </a:rPr>
              <a:t>=</a:t>
            </a:r>
            <a:r>
              <a:rPr lang="en-US" sz="2800" b="0" i="0" dirty="0">
                <a:solidFill>
                  <a:srgbClr val="BFC7D5"/>
                </a:solidFill>
                <a:effectLst/>
                <a:latin typeface="source-code-pro"/>
              </a:rPr>
              <a:t> </a:t>
            </a:r>
            <a:r>
              <a:rPr lang="en-US" sz="2800" b="0" i="0" dirty="0">
                <a:solidFill>
                  <a:srgbClr val="F78C6C"/>
                </a:solidFill>
                <a:effectLst/>
                <a:latin typeface="source-code-pro"/>
              </a:rPr>
              <a:t>10</a:t>
            </a:r>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
        <p:nvSpPr>
          <p:cNvPr id="4" name="ZoneTexte 3">
            <a:extLst>
              <a:ext uri="{FF2B5EF4-FFF2-40B4-BE49-F238E27FC236}">
                <a16:creationId xmlns:a16="http://schemas.microsoft.com/office/drawing/2014/main" id="{A1CB0FCD-D5F8-69CE-38C5-88B7B6852EB7}"/>
              </a:ext>
            </a:extLst>
          </p:cNvPr>
          <p:cNvSpPr txBox="1"/>
          <p:nvPr/>
        </p:nvSpPr>
        <p:spPr>
          <a:xfrm>
            <a:off x="977565" y="4611767"/>
            <a:ext cx="10376236" cy="523220"/>
          </a:xfrm>
          <a:prstGeom prst="rect">
            <a:avLst/>
          </a:prstGeom>
          <a:solidFill>
            <a:schemeClr val="tx1">
              <a:lumMod val="85000"/>
              <a:lumOff val="15000"/>
            </a:schemeClr>
          </a:solidFill>
        </p:spPr>
        <p:txBody>
          <a:bodyPr wrap="square">
            <a:spAutoFit/>
          </a:bodyPr>
          <a:lstStyle/>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put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D9F5DD"/>
                </a:solidFill>
                <a:effectLst/>
                <a:latin typeface="source-code-pro"/>
              </a:rPr>
              <a:t>'</a:t>
            </a:r>
            <a:r>
              <a:rPr lang="en-US" sz="2800" b="0" i="0" dirty="0">
                <a:solidFill>
                  <a:srgbClr val="C3E88D"/>
                </a:solidFill>
                <a:effectLst/>
                <a:latin typeface="source-code-pro"/>
              </a:rPr>
              <a:t>value</a:t>
            </a:r>
            <a:r>
              <a:rPr lang="en-US" sz="2800" b="0" i="0" dirty="0">
                <a:solidFill>
                  <a:srgbClr val="D9F5DD"/>
                </a:solidFill>
                <a:effectLst/>
                <a:latin typeface="source-code-pro"/>
              </a:rPr>
              <a:t>'</a:t>
            </a:r>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4098754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normAutofit/>
          </a:bodyPr>
          <a:lstStyle/>
          <a:p>
            <a:r>
              <a:rPr lang="fr-FR" b="1" dirty="0"/>
              <a:t>Stocker s'il n'existe pas</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La méthode </a:t>
            </a:r>
            <a:r>
              <a:rPr lang="fr-FR" sz="3200" b="1" dirty="0" err="1">
                <a:latin typeface="Garamond" panose="02020404030301010803" pitchFamily="18" charset="0"/>
              </a:rPr>
              <a:t>add</a:t>
            </a:r>
            <a:r>
              <a:rPr lang="fr-FR" sz="3200" dirty="0">
                <a:latin typeface="Garamond" panose="02020404030301010803" pitchFamily="18" charset="0"/>
              </a:rPr>
              <a:t> n'ajoutera l'élément au cache que s'il n'existe pas déjà dans le magasin du cache.</a:t>
            </a:r>
          </a:p>
          <a:p>
            <a:pPr marL="0" indent="0">
              <a:buNone/>
            </a:pPr>
            <a:r>
              <a:rPr lang="fr-FR" sz="3200" dirty="0">
                <a:latin typeface="Garamond" panose="02020404030301010803" pitchFamily="18" charset="0"/>
              </a:rPr>
              <a:t>La méthode renvoie </a:t>
            </a:r>
            <a:r>
              <a:rPr lang="fr-FR" sz="3200" b="1" dirty="0" err="1">
                <a:latin typeface="Garamond" panose="02020404030301010803" pitchFamily="18" charset="0"/>
              </a:rPr>
              <a:t>true</a:t>
            </a:r>
            <a:r>
              <a:rPr lang="fr-FR" sz="3200" dirty="0">
                <a:latin typeface="Garamond" panose="02020404030301010803" pitchFamily="18" charset="0"/>
              </a:rPr>
              <a:t> si l'élément est effectivement ajouté au cache. Sinon, la méthode renvoie </a:t>
            </a:r>
            <a:r>
              <a:rPr lang="fr-FR" sz="3200" b="1" dirty="0">
                <a:latin typeface="Garamond" panose="02020404030301010803" pitchFamily="18" charset="0"/>
              </a:rPr>
              <a:t>false</a:t>
            </a:r>
            <a:r>
              <a:rPr lang="fr-FR" sz="3200" dirty="0">
                <a:latin typeface="Garamond" panose="02020404030301010803" pitchFamily="18" charset="0"/>
              </a:rPr>
              <a:t>.</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4122145"/>
            <a:ext cx="10376236" cy="523220"/>
          </a:xfrm>
          <a:prstGeom prst="rect">
            <a:avLst/>
          </a:prstGeom>
          <a:solidFill>
            <a:schemeClr val="tx1">
              <a:lumMod val="85000"/>
              <a:lumOff val="15000"/>
            </a:schemeClr>
          </a:solidFill>
        </p:spPr>
        <p:txBody>
          <a:bodyPr wrap="square">
            <a:spAutoFit/>
          </a:bodyPr>
          <a:lstStyle/>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add</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D9F5DD"/>
                </a:solidFill>
                <a:effectLst/>
                <a:latin typeface="source-code-pro"/>
              </a:rPr>
              <a:t>'</a:t>
            </a:r>
            <a:r>
              <a:rPr lang="en-US" sz="2800" b="0" i="0" dirty="0">
                <a:solidFill>
                  <a:srgbClr val="C3E88D"/>
                </a:solidFill>
                <a:effectLst/>
                <a:latin typeface="source-code-pro"/>
              </a:rPr>
              <a:t>value</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BEC5D4"/>
                </a:solidFill>
                <a:effectLst/>
                <a:latin typeface="source-code-pro"/>
              </a:rPr>
              <a:t>$seconds</a:t>
            </a:r>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4213584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normAutofit/>
          </a:bodyPr>
          <a:lstStyle/>
          <a:p>
            <a:r>
              <a:rPr lang="fr-FR" b="1" dirty="0"/>
              <a:t>Stocker des objets pour toujours</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La méthode </a:t>
            </a:r>
            <a:r>
              <a:rPr lang="fr-FR" sz="3200" b="1" dirty="0" err="1">
                <a:latin typeface="Garamond" panose="02020404030301010803" pitchFamily="18" charset="0"/>
              </a:rPr>
              <a:t>forever</a:t>
            </a:r>
            <a:r>
              <a:rPr lang="fr-FR" sz="3200" dirty="0">
                <a:latin typeface="Garamond" panose="02020404030301010803" pitchFamily="18" charset="0"/>
              </a:rPr>
              <a:t> peut être utilisée pour stocker un élément dans le cache de façon permanente. Comme ces éléments n'expireront pas, ils doivent être retirés manuellement du cache à l'aide de la méthode </a:t>
            </a:r>
            <a:r>
              <a:rPr lang="fr-FR" sz="3200" b="1" dirty="0" err="1">
                <a:latin typeface="Garamond" panose="02020404030301010803" pitchFamily="18" charset="0"/>
              </a:rPr>
              <a:t>forget</a:t>
            </a:r>
            <a:r>
              <a:rPr lang="fr-FR" sz="3200" dirty="0">
                <a:latin typeface="Garamond" panose="02020404030301010803" pitchFamily="18" charset="0"/>
              </a:rPr>
              <a:t> :</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3400250"/>
            <a:ext cx="10376236" cy="1384995"/>
          </a:xfrm>
          <a:prstGeom prst="rect">
            <a:avLst/>
          </a:prstGeom>
          <a:solidFill>
            <a:schemeClr val="tx1">
              <a:lumMod val="85000"/>
              <a:lumOff val="15000"/>
            </a:schemeClr>
          </a:solidFill>
        </p:spPr>
        <p:txBody>
          <a:bodyPr wrap="square">
            <a:spAutoFit/>
          </a:bodyPr>
          <a:lstStyle/>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forever</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D9F5DD"/>
                </a:solidFill>
                <a:effectLst/>
                <a:latin typeface="source-code-pro"/>
              </a:rPr>
              <a:t>'</a:t>
            </a:r>
            <a:r>
              <a:rPr lang="en-US" sz="2800" b="0" i="0" dirty="0">
                <a:solidFill>
                  <a:srgbClr val="C3E88D"/>
                </a:solidFill>
                <a:effectLst/>
                <a:latin typeface="source-code-pro"/>
              </a:rPr>
              <a:t>value</a:t>
            </a:r>
            <a:r>
              <a:rPr lang="en-US" sz="2800" b="0" i="0" dirty="0">
                <a:solidFill>
                  <a:srgbClr val="D9F5DD"/>
                </a:solidFill>
                <a:effectLst/>
                <a:latin typeface="source-code-pro"/>
              </a:rPr>
              <a:t>’</a:t>
            </a:r>
            <a:r>
              <a:rPr lang="en-US" sz="2800" b="0" i="0" dirty="0">
                <a:solidFill>
                  <a:srgbClr val="BFC7D5"/>
                </a:solidFill>
                <a:effectLst/>
                <a:latin typeface="source-code-pro"/>
              </a:rPr>
              <a:t>);</a:t>
            </a:r>
          </a:p>
          <a:p>
            <a:pPr algn="l"/>
            <a:endParaRPr lang="en-US" sz="2800" dirty="0">
              <a:solidFill>
                <a:srgbClr val="BFC7D5"/>
              </a:solidFill>
              <a:latin typeface="source-code-pro"/>
            </a:endParaRPr>
          </a:p>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forget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790658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normAutofit/>
          </a:bodyPr>
          <a:lstStyle/>
          <a:p>
            <a:r>
              <a:rPr lang="fr-FR" b="1" dirty="0"/>
              <a:t>Supprimer des éléments du cache</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Vous pouvez retirer des éléments du cache en utilisant la méthode </a:t>
            </a:r>
            <a:r>
              <a:rPr lang="fr-FR" sz="3200" b="1" dirty="0" err="1">
                <a:latin typeface="Garamond" panose="02020404030301010803" pitchFamily="18" charset="0"/>
              </a:rPr>
              <a:t>forget</a:t>
            </a:r>
            <a:r>
              <a:rPr lang="fr-FR" sz="3200" dirty="0">
                <a:latin typeface="Garamond" panose="02020404030301010803" pitchFamily="18" charset="0"/>
              </a:rPr>
              <a:t>.</a:t>
            </a:r>
          </a:p>
          <a:p>
            <a:pPr marL="0" indent="0">
              <a:buNone/>
            </a:pPr>
            <a:r>
              <a:rPr lang="fr-FR" sz="3200" dirty="0">
                <a:latin typeface="Garamond" panose="02020404030301010803" pitchFamily="18" charset="0"/>
              </a:rPr>
              <a:t>Vous pouvez également supprimer des éléments en indiquant un nombre 0 ou </a:t>
            </a:r>
            <a:r>
              <a:rPr lang="fr-FR" sz="3200" b="1" dirty="0">
                <a:latin typeface="Garamond" panose="02020404030301010803" pitchFamily="18" charset="0"/>
              </a:rPr>
              <a:t>négatif</a:t>
            </a:r>
            <a:r>
              <a:rPr lang="fr-FR" sz="3200" dirty="0">
                <a:latin typeface="Garamond" panose="02020404030301010803" pitchFamily="18" charset="0"/>
              </a:rPr>
              <a:t> de secondes d'expiration.</a:t>
            </a:r>
          </a:p>
          <a:p>
            <a:pPr marL="0" indent="0">
              <a:buNone/>
            </a:pPr>
            <a:r>
              <a:rPr lang="fr-FR" sz="3200" dirty="0">
                <a:latin typeface="Garamond" panose="02020404030301010803" pitchFamily="18" charset="0"/>
              </a:rPr>
              <a:t>Vous pouvez </a:t>
            </a:r>
            <a:r>
              <a:rPr lang="fr-FR" sz="3200" dirty="0">
                <a:solidFill>
                  <a:srgbClr val="FF0000"/>
                </a:solidFill>
                <a:latin typeface="Garamond" panose="02020404030301010803" pitchFamily="18" charset="0"/>
              </a:rPr>
              <a:t>vider la totalité du cache </a:t>
            </a:r>
            <a:r>
              <a:rPr lang="fr-FR" sz="3200" dirty="0">
                <a:latin typeface="Garamond" panose="02020404030301010803" pitchFamily="18" charset="0"/>
              </a:rPr>
              <a:t>en utilisant la méthode </a:t>
            </a:r>
            <a:r>
              <a:rPr lang="fr-FR" sz="3200" b="1" dirty="0">
                <a:latin typeface="Garamond" panose="02020404030301010803" pitchFamily="18" charset="0"/>
              </a:rPr>
              <a:t>flush</a:t>
            </a:r>
            <a:r>
              <a:rPr lang="fr-FR" sz="3200" dirty="0">
                <a:latin typeface="Garamond" panose="02020404030301010803" pitchFamily="18" charset="0"/>
              </a:rPr>
              <a:t>.</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3696280"/>
            <a:ext cx="10376236" cy="3108543"/>
          </a:xfrm>
          <a:prstGeom prst="rect">
            <a:avLst/>
          </a:prstGeom>
          <a:solidFill>
            <a:schemeClr val="tx1">
              <a:lumMod val="85000"/>
              <a:lumOff val="15000"/>
            </a:schemeClr>
          </a:solidFill>
        </p:spPr>
        <p:txBody>
          <a:bodyPr wrap="square">
            <a:spAutoFit/>
          </a:bodyPr>
          <a:lstStyle/>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forget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a:t>
            </a:r>
          </a:p>
          <a:p>
            <a:pPr algn="l"/>
            <a:endParaRPr lang="en-US" sz="2800" b="0" i="0" dirty="0">
              <a:solidFill>
                <a:srgbClr val="BFC7D5"/>
              </a:solidFill>
              <a:effectLst/>
              <a:latin typeface="source-code-pro"/>
            </a:endParaRPr>
          </a:p>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put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D9F5DD"/>
                </a:solidFill>
                <a:effectLst/>
                <a:latin typeface="source-code-pro"/>
              </a:rPr>
              <a:t>'</a:t>
            </a:r>
            <a:r>
              <a:rPr lang="en-US" sz="2800" b="0" i="0" dirty="0">
                <a:solidFill>
                  <a:srgbClr val="C3E88D"/>
                </a:solidFill>
                <a:effectLst/>
                <a:latin typeface="source-code-pro"/>
              </a:rPr>
              <a:t>value</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F78C6C"/>
                </a:solidFill>
                <a:effectLst/>
                <a:latin typeface="source-code-pro"/>
              </a:rPr>
              <a:t>0</a:t>
            </a:r>
            <a:r>
              <a:rPr lang="en-US" sz="2800" b="0" i="0" dirty="0">
                <a:solidFill>
                  <a:srgbClr val="BFC7D5"/>
                </a:solidFill>
                <a:effectLst/>
                <a:latin typeface="source-code-pro"/>
              </a:rPr>
              <a:t>);</a:t>
            </a:r>
          </a:p>
          <a:p>
            <a:pPr algn="l"/>
            <a:endParaRPr lang="en-US" sz="2800" b="0" i="0" dirty="0">
              <a:solidFill>
                <a:srgbClr val="232323"/>
              </a:solidFill>
              <a:effectLst/>
              <a:latin typeface="source-code-pro"/>
            </a:endParaRPr>
          </a:p>
          <a:p>
            <a:pPr algn="l"/>
            <a:r>
              <a:rPr lang="en-US" sz="2800" b="0" i="0" dirty="0">
                <a:solidFill>
                  <a:srgbClr val="232323"/>
                </a:solidFill>
                <a:effectLst/>
                <a:latin typeface="source-code-pro"/>
              </a:rPr>
              <a:t> </a:t>
            </a:r>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put</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D9F5DD"/>
                </a:solidFill>
                <a:effectLst/>
                <a:latin typeface="source-code-pro"/>
              </a:rPr>
              <a:t>'</a:t>
            </a:r>
            <a:r>
              <a:rPr lang="en-US" sz="2800" b="0" i="0" dirty="0">
                <a:solidFill>
                  <a:srgbClr val="C3E88D"/>
                </a:solidFill>
                <a:effectLst/>
                <a:latin typeface="source-code-pro"/>
              </a:rPr>
              <a:t>value</a:t>
            </a:r>
            <a:r>
              <a:rPr lang="en-US" sz="2800" b="0" i="0" dirty="0">
                <a:solidFill>
                  <a:srgbClr val="D9F5DD"/>
                </a:solidFill>
                <a:effectLst/>
                <a:latin typeface="source-code-pro"/>
              </a:rPr>
              <a:t>'</a:t>
            </a:r>
            <a:r>
              <a:rPr lang="en-US" sz="2800" b="0" i="0" dirty="0">
                <a:solidFill>
                  <a:srgbClr val="BFC7D5"/>
                </a:solidFill>
                <a:effectLst/>
                <a:latin typeface="source-code-pro"/>
              </a:rPr>
              <a:t>, </a:t>
            </a:r>
            <a:r>
              <a:rPr lang="en-US" sz="2800" b="0" i="0" dirty="0">
                <a:solidFill>
                  <a:srgbClr val="89DDFF"/>
                </a:solidFill>
                <a:effectLst/>
                <a:latin typeface="source-code-pro"/>
              </a:rPr>
              <a:t>-</a:t>
            </a:r>
            <a:r>
              <a:rPr lang="en-US" sz="2800" b="0" i="0" dirty="0">
                <a:solidFill>
                  <a:srgbClr val="F78C6C"/>
                </a:solidFill>
                <a:effectLst/>
                <a:latin typeface="source-code-pro"/>
              </a:rPr>
              <a:t>5</a:t>
            </a:r>
            <a:r>
              <a:rPr lang="en-US" sz="2800" b="0" i="0" dirty="0">
                <a:solidFill>
                  <a:srgbClr val="BFC7D5"/>
                </a:solidFill>
                <a:effectLst/>
                <a:latin typeface="source-code-pro"/>
              </a:rPr>
              <a:t>);</a:t>
            </a:r>
          </a:p>
          <a:p>
            <a:pPr algn="l"/>
            <a:endParaRPr lang="en-US" sz="2800" b="0" i="0" dirty="0">
              <a:solidFill>
                <a:srgbClr val="232323"/>
              </a:solidFill>
              <a:effectLst/>
              <a:latin typeface="source-code-pro"/>
            </a:endParaRPr>
          </a:p>
          <a:p>
            <a:pPr algn="l"/>
            <a:r>
              <a:rPr lang="en-US" sz="2800" b="0" i="0" dirty="0">
                <a:solidFill>
                  <a:srgbClr val="FFCB8B"/>
                </a:solidFill>
                <a:effectLst/>
                <a:latin typeface="source-code-pro"/>
              </a:rPr>
              <a:t>Cache</a:t>
            </a:r>
            <a:r>
              <a:rPr lang="en-US" sz="2800" b="0" i="0" dirty="0">
                <a:solidFill>
                  <a:srgbClr val="89DDFF"/>
                </a:solidFill>
                <a:effectLst/>
                <a:latin typeface="source-code-pro"/>
              </a:rPr>
              <a:t>::</a:t>
            </a:r>
            <a:r>
              <a:rPr lang="en-US" sz="2800" b="0" i="0" dirty="0">
                <a:solidFill>
                  <a:srgbClr val="82AAFF"/>
                </a:solidFill>
                <a:effectLst/>
                <a:latin typeface="source-code-pro"/>
              </a:rPr>
              <a:t>flush</a:t>
            </a:r>
            <a:r>
              <a:rPr lang="en-US" sz="2800" b="0" i="0" dirty="0">
                <a:solidFill>
                  <a:srgbClr val="BFC7D5"/>
                </a:solidFill>
                <a:effectLst/>
                <a:latin typeface="source-code-pro"/>
              </a:rPr>
              <a:t>();</a:t>
            </a:r>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257266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BF783-B28C-60CA-E572-B4B7C1B07112}"/>
              </a:ext>
            </a:extLst>
          </p:cNvPr>
          <p:cNvSpPr>
            <a:spLocks noGrp="1"/>
          </p:cNvSpPr>
          <p:nvPr>
            <p:ph type="title"/>
          </p:nvPr>
        </p:nvSpPr>
        <p:spPr>
          <a:xfrm>
            <a:off x="838200" y="225930"/>
            <a:ext cx="11353800" cy="910213"/>
          </a:xfrm>
        </p:spPr>
        <p:txBody>
          <a:bodyPr>
            <a:normAutofit/>
          </a:bodyPr>
          <a:lstStyle/>
          <a:p>
            <a:r>
              <a:rPr lang="fr-FR" b="1" dirty="0"/>
              <a:t>Le Helper Cache</a:t>
            </a:r>
          </a:p>
        </p:txBody>
      </p:sp>
      <p:sp>
        <p:nvSpPr>
          <p:cNvPr id="3" name="Espace réservé du contenu 2">
            <a:extLst>
              <a:ext uri="{FF2B5EF4-FFF2-40B4-BE49-F238E27FC236}">
                <a16:creationId xmlns:a16="http://schemas.microsoft.com/office/drawing/2014/main" id="{5934693A-665B-4E24-0E6A-4B867131255C}"/>
              </a:ext>
            </a:extLst>
          </p:cNvPr>
          <p:cNvSpPr>
            <a:spLocks noGrp="1"/>
          </p:cNvSpPr>
          <p:nvPr>
            <p:ph idx="1"/>
          </p:nvPr>
        </p:nvSpPr>
        <p:spPr>
          <a:xfrm>
            <a:off x="838199" y="1136142"/>
            <a:ext cx="11175609" cy="5721857"/>
          </a:xfrm>
        </p:spPr>
        <p:txBody>
          <a:bodyPr>
            <a:normAutofit/>
          </a:bodyPr>
          <a:lstStyle/>
          <a:p>
            <a:pPr marL="0" indent="0">
              <a:buNone/>
            </a:pPr>
            <a:r>
              <a:rPr lang="fr-FR" sz="3200" dirty="0">
                <a:latin typeface="Garamond" panose="02020404030301010803" pitchFamily="18" charset="0"/>
              </a:rPr>
              <a:t>Vous pouvez utiliser la fonction globale </a:t>
            </a:r>
            <a:r>
              <a:rPr lang="fr-FR" sz="3200" b="1" dirty="0">
                <a:latin typeface="Garamond" panose="02020404030301010803" pitchFamily="18" charset="0"/>
              </a:rPr>
              <a:t>cache</a:t>
            </a:r>
            <a:r>
              <a:rPr lang="fr-FR" sz="3200" dirty="0">
                <a:latin typeface="Garamond" panose="02020404030301010803" pitchFamily="18" charset="0"/>
              </a:rPr>
              <a:t> pour récupérer et stocker des données via le cache. Lorsque la fonction de cache est appelée avec un seul argument de type chaîne, elle renvoie la valeur de la clé donnée :</a:t>
            </a:r>
          </a:p>
        </p:txBody>
      </p:sp>
      <p:sp>
        <p:nvSpPr>
          <p:cNvPr id="5" name="ZoneTexte 4">
            <a:extLst>
              <a:ext uri="{FF2B5EF4-FFF2-40B4-BE49-F238E27FC236}">
                <a16:creationId xmlns:a16="http://schemas.microsoft.com/office/drawing/2014/main" id="{47FCBC32-9061-83C2-34D4-4627EF41571E}"/>
              </a:ext>
            </a:extLst>
          </p:cNvPr>
          <p:cNvSpPr txBox="1"/>
          <p:nvPr/>
        </p:nvSpPr>
        <p:spPr>
          <a:xfrm>
            <a:off x="977565" y="3070638"/>
            <a:ext cx="10376236" cy="1815882"/>
          </a:xfrm>
          <a:prstGeom prst="rect">
            <a:avLst/>
          </a:prstGeom>
          <a:solidFill>
            <a:schemeClr val="tx1">
              <a:lumMod val="85000"/>
              <a:lumOff val="15000"/>
            </a:schemeClr>
          </a:solidFill>
        </p:spPr>
        <p:txBody>
          <a:bodyPr wrap="square">
            <a:spAutoFit/>
          </a:bodyPr>
          <a:lstStyle/>
          <a:p>
            <a:pPr algn="l"/>
            <a:r>
              <a:rPr lang="en-US" sz="2800" b="0" i="0" dirty="0">
                <a:solidFill>
                  <a:srgbClr val="BEC5D4"/>
                </a:solidFill>
                <a:effectLst/>
                <a:latin typeface="source-code-pro"/>
              </a:rPr>
              <a:t>$value</a:t>
            </a:r>
            <a:r>
              <a:rPr lang="en-US" sz="2800" b="0" i="0" dirty="0">
                <a:solidFill>
                  <a:srgbClr val="BFC7D5"/>
                </a:solidFill>
                <a:effectLst/>
                <a:latin typeface="source-code-pro"/>
              </a:rPr>
              <a:t> </a:t>
            </a:r>
            <a:r>
              <a:rPr lang="en-US" sz="2800" b="0" i="0" dirty="0">
                <a:solidFill>
                  <a:srgbClr val="C792EA"/>
                </a:solidFill>
                <a:effectLst/>
                <a:latin typeface="source-code-pro"/>
              </a:rPr>
              <a:t>=</a:t>
            </a:r>
            <a:r>
              <a:rPr lang="en-US" sz="2800" b="0" i="0" dirty="0">
                <a:solidFill>
                  <a:srgbClr val="BFC7D5"/>
                </a:solidFill>
                <a:effectLst/>
                <a:latin typeface="source-code-pro"/>
              </a:rPr>
              <a:t> </a:t>
            </a:r>
            <a:r>
              <a:rPr lang="en-US" sz="2800" b="0" i="0" dirty="0">
                <a:solidFill>
                  <a:srgbClr val="82AAFF"/>
                </a:solidFill>
                <a:effectLst/>
                <a:latin typeface="source-code-pro"/>
              </a:rPr>
              <a:t>cache</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BFC7D5"/>
                </a:solidFill>
                <a:effectLst/>
                <a:latin typeface="source-code-pro"/>
              </a:rPr>
              <a:t>); // </a:t>
            </a:r>
            <a:r>
              <a:rPr lang="en-US" sz="2800" b="0" i="0" dirty="0" err="1">
                <a:solidFill>
                  <a:srgbClr val="BFC7D5"/>
                </a:solidFill>
                <a:effectLst/>
                <a:latin typeface="source-code-pro"/>
              </a:rPr>
              <a:t>Renvoie</a:t>
            </a:r>
            <a:r>
              <a:rPr lang="en-US" sz="2800" b="0" i="0" dirty="0">
                <a:solidFill>
                  <a:srgbClr val="BFC7D5"/>
                </a:solidFill>
                <a:effectLst/>
                <a:latin typeface="source-code-pro"/>
              </a:rPr>
              <a:t> la </a:t>
            </a:r>
            <a:r>
              <a:rPr lang="en-US" sz="2800" b="0" i="0" dirty="0" err="1">
                <a:solidFill>
                  <a:srgbClr val="BFC7D5"/>
                </a:solidFill>
                <a:effectLst/>
                <a:latin typeface="source-code-pro"/>
              </a:rPr>
              <a:t>valeur</a:t>
            </a:r>
            <a:r>
              <a:rPr lang="en-US" sz="2800" b="0" i="0" dirty="0">
                <a:solidFill>
                  <a:srgbClr val="BFC7D5"/>
                </a:solidFill>
                <a:effectLst/>
                <a:latin typeface="source-code-pro"/>
              </a:rPr>
              <a:t> de la </a:t>
            </a:r>
            <a:r>
              <a:rPr lang="en-US" sz="2800" b="0" i="0" dirty="0" err="1">
                <a:solidFill>
                  <a:srgbClr val="BFC7D5"/>
                </a:solidFill>
                <a:effectLst/>
                <a:latin typeface="source-code-pro"/>
              </a:rPr>
              <a:t>clé</a:t>
            </a:r>
            <a:r>
              <a:rPr lang="en-US" sz="2800" b="0" i="0" dirty="0">
                <a:solidFill>
                  <a:srgbClr val="BFC7D5"/>
                </a:solidFill>
                <a:effectLst/>
                <a:latin typeface="source-code-pro"/>
              </a:rPr>
              <a:t> </a:t>
            </a:r>
            <a:r>
              <a:rPr lang="en-US" sz="2800" b="0" i="0" dirty="0" err="1">
                <a:solidFill>
                  <a:srgbClr val="BFC7D5"/>
                </a:solidFill>
                <a:effectLst/>
                <a:latin typeface="source-code-pro"/>
              </a:rPr>
              <a:t>donné</a:t>
            </a:r>
            <a:endParaRPr lang="en-US" sz="2800" b="0" i="0" dirty="0">
              <a:solidFill>
                <a:srgbClr val="BFC7D5"/>
              </a:solidFill>
              <a:effectLst/>
              <a:latin typeface="source-code-pro"/>
            </a:endParaRPr>
          </a:p>
          <a:p>
            <a:pPr algn="l"/>
            <a:endParaRPr lang="en-US" sz="2800" b="0" i="0" dirty="0">
              <a:solidFill>
                <a:srgbClr val="BFC7D5"/>
              </a:solidFill>
              <a:effectLst/>
              <a:latin typeface="source-code-pro"/>
            </a:endParaRPr>
          </a:p>
          <a:p>
            <a:pPr algn="l"/>
            <a:r>
              <a:rPr lang="en-US" sz="2800" b="0" i="0" dirty="0">
                <a:solidFill>
                  <a:srgbClr val="82AAFF"/>
                </a:solidFill>
                <a:effectLst/>
                <a:latin typeface="source-code-pro"/>
              </a:rPr>
              <a:t>cache</a:t>
            </a:r>
            <a:r>
              <a:rPr lang="en-US" sz="2800" b="0" i="0" dirty="0">
                <a:solidFill>
                  <a:srgbClr val="BFC7D5"/>
                </a:solidFill>
                <a:effectLst/>
                <a:latin typeface="source-code-pro"/>
              </a:rPr>
              <a:t>([</a:t>
            </a:r>
            <a:r>
              <a:rPr lang="en-US" sz="2800" b="0" i="0" dirty="0">
                <a:solidFill>
                  <a:srgbClr val="D9F5DD"/>
                </a:solidFill>
                <a:effectLst/>
                <a:latin typeface="source-code-pro"/>
              </a:rPr>
              <a:t>'</a:t>
            </a:r>
            <a:r>
              <a:rPr lang="en-US" sz="2800" b="0" i="0" dirty="0">
                <a:solidFill>
                  <a:srgbClr val="C3E88D"/>
                </a:solidFill>
                <a:effectLst/>
                <a:latin typeface="source-code-pro"/>
              </a:rPr>
              <a:t>key</a:t>
            </a:r>
            <a:r>
              <a:rPr lang="en-US" sz="2800" b="0" i="0" dirty="0">
                <a:solidFill>
                  <a:srgbClr val="D9F5DD"/>
                </a:solidFill>
                <a:effectLst/>
                <a:latin typeface="source-code-pro"/>
              </a:rPr>
              <a:t>'</a:t>
            </a:r>
            <a:r>
              <a:rPr lang="en-US" sz="2800" b="0" i="0" dirty="0">
                <a:solidFill>
                  <a:srgbClr val="82AAFF"/>
                </a:solidFill>
                <a:effectLst/>
                <a:latin typeface="source-code-pro"/>
              </a:rPr>
              <a:t> </a:t>
            </a:r>
            <a:r>
              <a:rPr lang="en-US" sz="2800" b="0" i="0" dirty="0">
                <a:solidFill>
                  <a:srgbClr val="89DDFF"/>
                </a:solidFill>
                <a:effectLst/>
                <a:latin typeface="source-code-pro"/>
              </a:rPr>
              <a:t>=&gt;</a:t>
            </a:r>
            <a:r>
              <a:rPr lang="en-US" sz="2800" b="0" i="0" dirty="0">
                <a:solidFill>
                  <a:srgbClr val="82AAFF"/>
                </a:solidFill>
                <a:effectLst/>
                <a:latin typeface="source-code-pro"/>
              </a:rPr>
              <a:t> </a:t>
            </a:r>
            <a:r>
              <a:rPr lang="en-US" sz="2800" b="0" i="0" dirty="0">
                <a:solidFill>
                  <a:srgbClr val="D9F5DD"/>
                </a:solidFill>
                <a:effectLst/>
                <a:latin typeface="source-code-pro"/>
              </a:rPr>
              <a:t>'</a:t>
            </a:r>
            <a:r>
              <a:rPr lang="en-US" sz="2800" b="0" i="0" dirty="0">
                <a:solidFill>
                  <a:srgbClr val="C3E88D"/>
                </a:solidFill>
                <a:effectLst/>
                <a:latin typeface="source-code-pro"/>
              </a:rPr>
              <a:t>value</a:t>
            </a:r>
            <a:r>
              <a:rPr lang="en-US" sz="2800" b="0" i="0" dirty="0">
                <a:solidFill>
                  <a:srgbClr val="D9F5DD"/>
                </a:solidFill>
                <a:effectLst/>
                <a:latin typeface="source-code-pro"/>
              </a:rPr>
              <a:t>'</a:t>
            </a:r>
            <a:r>
              <a:rPr lang="en-US" sz="2800" b="0" i="0" dirty="0">
                <a:solidFill>
                  <a:srgbClr val="BFC7D5"/>
                </a:solidFill>
                <a:effectLst/>
                <a:latin typeface="source-code-pro"/>
              </a:rPr>
              <a:t>],</a:t>
            </a:r>
            <a:r>
              <a:rPr lang="en-US" sz="2800" b="0" i="0" dirty="0">
                <a:solidFill>
                  <a:srgbClr val="82AAFF"/>
                </a:solidFill>
                <a:effectLst/>
                <a:latin typeface="source-code-pro"/>
              </a:rPr>
              <a:t> </a:t>
            </a:r>
            <a:r>
              <a:rPr lang="en-US" sz="2800" b="0" i="0" dirty="0">
                <a:solidFill>
                  <a:srgbClr val="BFC7D5"/>
                </a:solidFill>
                <a:effectLst/>
                <a:latin typeface="source-code-pro"/>
              </a:rPr>
              <a:t>$</a:t>
            </a:r>
            <a:r>
              <a:rPr lang="en-US" sz="2800" b="0" i="0" dirty="0">
                <a:solidFill>
                  <a:srgbClr val="BEC5D4"/>
                </a:solidFill>
                <a:effectLst/>
                <a:latin typeface="source-code-pro"/>
              </a:rPr>
              <a:t>seconds</a:t>
            </a:r>
            <a:r>
              <a:rPr lang="en-US" sz="2800" b="0" i="0" dirty="0">
                <a:solidFill>
                  <a:srgbClr val="BFC7D5"/>
                </a:solidFill>
                <a:effectLst/>
                <a:latin typeface="source-code-pro"/>
              </a:rPr>
              <a:t>); // stocker les </a:t>
            </a:r>
            <a:r>
              <a:rPr lang="en-US" sz="2800" b="0" i="0" dirty="0" err="1">
                <a:solidFill>
                  <a:srgbClr val="BFC7D5"/>
                </a:solidFill>
                <a:effectLst/>
                <a:latin typeface="source-code-pro"/>
              </a:rPr>
              <a:t>valeurs</a:t>
            </a:r>
            <a:endParaRPr lang="en-US" sz="2800" b="0" i="0" dirty="0">
              <a:solidFill>
                <a:srgbClr val="232323"/>
              </a:solidFill>
              <a:effectLst/>
              <a:latin typeface="source-code-pro"/>
            </a:endParaRPr>
          </a:p>
          <a:p>
            <a:pPr algn="l"/>
            <a:endParaRPr lang="en-US" sz="2800" b="0" i="0" dirty="0">
              <a:solidFill>
                <a:srgbClr val="232323"/>
              </a:solidFill>
              <a:effectLst/>
              <a:latin typeface="source-code-pro"/>
            </a:endParaRPr>
          </a:p>
        </p:txBody>
      </p:sp>
    </p:spTree>
    <p:extLst>
      <p:ext uri="{BB962C8B-B14F-4D97-AF65-F5344CB8AC3E}">
        <p14:creationId xmlns:p14="http://schemas.microsoft.com/office/powerpoint/2010/main" val="663851723"/>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docProps/app.xml><?xml version="1.0" encoding="utf-8"?>
<Properties xmlns="http://schemas.openxmlformats.org/officeDocument/2006/extended-properties" xmlns:vt="http://schemas.openxmlformats.org/officeDocument/2006/docPropsVTypes">
  <TotalTime>1357</TotalTime>
  <Words>1343</Words>
  <Application>Microsoft Office PowerPoint</Application>
  <PresentationFormat>Grand écran</PresentationFormat>
  <Paragraphs>99</Paragraphs>
  <Slides>21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21</vt:i4>
      </vt:variant>
    </vt:vector>
  </HeadingPairs>
  <TitlesOfParts>
    <vt:vector size="26" baseType="lpstr">
      <vt:lpstr>Arial</vt:lpstr>
      <vt:lpstr>Garamond</vt:lpstr>
      <vt:lpstr>source-code-pro</vt:lpstr>
      <vt:lpstr>Univers</vt:lpstr>
      <vt:lpstr>GradientVTI</vt:lpstr>
      <vt:lpstr>Laravel cache</vt:lpstr>
      <vt:lpstr>Introduction</vt:lpstr>
      <vt:lpstr>Configuration</vt:lpstr>
      <vt:lpstr>Configuration</vt:lpstr>
      <vt:lpstr>Les prérequis (Base de données)</vt:lpstr>
      <vt:lpstr>Les prérequis (Memcached)</vt:lpstr>
      <vt:lpstr>Les prérequis (Redis)</vt:lpstr>
      <vt:lpstr>Les prérequis (DynamoDB)</vt:lpstr>
      <vt:lpstr>Utilisation du cache</vt:lpstr>
      <vt:lpstr>Obtention d'une instance de cache</vt:lpstr>
      <vt:lpstr>Accès à plusieurs mémoires cache</vt:lpstr>
      <vt:lpstr>Récupérer des éléments du cache</vt:lpstr>
      <vt:lpstr>Vérification de l'existence d'un élément</vt:lpstr>
      <vt:lpstr>Incrémentation / Décrémentation des valeurs</vt:lpstr>
      <vt:lpstr>Récupérer et stocker</vt:lpstr>
      <vt:lpstr>Récupérer et supprimer</vt:lpstr>
      <vt:lpstr>Stockage des éléments dans le cache</vt:lpstr>
      <vt:lpstr>Stocker s'il n'existe pas</vt:lpstr>
      <vt:lpstr>Stocker des objets pour toujours</vt:lpstr>
      <vt:lpstr>Supprimer des éléments du cache</vt:lpstr>
      <vt:lpstr>Le Helper Cache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Laravel cache</dc:title>
  <dc:creator>BOUBAKER ADDY</dc:creator>
  <cp:lastModifiedBy>BOUBAKER ADDY</cp:lastModifiedBy>
  <cp:revision>11</cp:revision>
  <dcterms:created xsi:type="dcterms:W3CDTF">2022-12-21T08:43:28Z</dcterms:created>
  <dcterms:modified xsi:type="dcterms:W3CDTF">2026-02-18T15:30:38Z</dcterms:modified>
</cp:coreProperties>
</file>