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20"/>
  </p:notesMasterIdLst>
  <p:sldIdLst>
    <p:sldId id="256" r:id="rId2"/>
    <p:sldId id="257" r:id="rId3"/>
    <p:sldId id="261" r:id="rId4"/>
    <p:sldId id="273" r:id="rId5"/>
    <p:sldId id="259" r:id="rId6"/>
    <p:sldId id="258" r:id="rId7"/>
    <p:sldId id="262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BAKER ADDY" userId="9c09b5bc-cd4d-426c-8731-ba90d9d87c1e" providerId="ADAL" clId="{D6B6A6C1-8E5E-4DDE-ACF6-CCE4018C790B}"/>
    <pc:docChg chg="modSld">
      <pc:chgData name="BOUBAKER ADDY" userId="9c09b5bc-cd4d-426c-8731-ba90d9d87c1e" providerId="ADAL" clId="{D6B6A6C1-8E5E-4DDE-ACF6-CCE4018C790B}" dt="2025-02-06T06:51:05.055" v="0" actId="113"/>
      <pc:docMkLst>
        <pc:docMk/>
      </pc:docMkLst>
      <pc:sldChg chg="modSp mod">
        <pc:chgData name="BOUBAKER ADDY" userId="9c09b5bc-cd4d-426c-8731-ba90d9d87c1e" providerId="ADAL" clId="{D6B6A6C1-8E5E-4DDE-ACF6-CCE4018C790B}" dt="2025-02-06T06:51:05.055" v="0" actId="113"/>
        <pc:sldMkLst>
          <pc:docMk/>
          <pc:sldMk cId="3708081917" sldId="268"/>
        </pc:sldMkLst>
        <pc:spChg chg="mod">
          <ac:chgData name="BOUBAKER ADDY" userId="9c09b5bc-cd4d-426c-8731-ba90d9d87c1e" providerId="ADAL" clId="{D6B6A6C1-8E5E-4DDE-ACF6-CCE4018C790B}" dt="2025-02-06T06:51:05.055" v="0" actId="113"/>
          <ac:spMkLst>
            <pc:docMk/>
            <pc:sldMk cId="3708081917" sldId="268"/>
            <ac:spMk id="3" creationId="{F3998035-C36F-8ABB-2F38-8F74DD9328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7FC8-0414-44DB-A1AA-B0EA635DCF8C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A6DB27-DCAC-4115-A780-CD4415E591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15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A135F4DA-9F72-43E8-9073-6BA827E4467B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97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537DF27-4F35-4A63-8D4F-096C687D6979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4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FE9F613A-9F50-4F4F-9442-25A6CD3BEB90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65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DDB771E4-86C0-46C1-A9A8-A2B907626AC6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533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D128152-BF39-4986-9D71-5378E13C09FE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7398E8B7-49C4-4380-91B0-2D5C19AE11DD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34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0C40F81F-C5D1-4B84-A62D-29A6548119D2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89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71608BB-81F7-4F09-9CCC-1E464CEE4B8C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9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B80E6E52-4661-4B41-B90C-7CA606FE3E5F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9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95BCDD6B-25A4-479D-AEB0-3B1DE242D1EF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D6B1A6AA-9F23-44FA-8AD2-DB893BD782AD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12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22F766FB-48AE-4ADF-97A1-B6AA4E4414C8}" type="datetime1">
              <a:rPr lang="en-US" smtClean="0"/>
              <a:t>06-Feb-25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3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896" r:id="rId6"/>
    <p:sldLayoutId id="2147483892" r:id="rId7"/>
    <p:sldLayoutId id="2147483893" r:id="rId8"/>
    <p:sldLayoutId id="2147483894" r:id="rId9"/>
    <p:sldLayoutId id="2147483895" r:id="rId10"/>
    <p:sldLayoutId id="21474838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een dialogue boxes">
            <a:extLst>
              <a:ext uri="{FF2B5EF4-FFF2-40B4-BE49-F238E27FC236}">
                <a16:creationId xmlns:a16="http://schemas.microsoft.com/office/drawing/2014/main" id="{C4FE8AD5-61A5-823E-4784-FA3AB8B94D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3996" b="3031"/>
          <a:stretch/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F8DFA4E-B668-51F3-1B5C-D45D79DBF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789" y="1128811"/>
            <a:ext cx="4764505" cy="3342290"/>
          </a:xfrm>
        </p:spPr>
        <p:txBody>
          <a:bodyPr anchor="b">
            <a:normAutofit/>
          </a:bodyPr>
          <a:lstStyle/>
          <a:p>
            <a:r>
              <a:rPr lang="fr-FR" sz="6000" dirty="0"/>
              <a:t>Les Notifications</a:t>
            </a:r>
          </a:p>
        </p:txBody>
      </p:sp>
      <p:sp>
        <p:nvSpPr>
          <p:cNvPr id="86" name="Freeform 6" hidden="1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Espace réservé du numéro de diapositive 4" hidden="1">
            <a:extLst>
              <a:ext uri="{FF2B5EF4-FFF2-40B4-BE49-F238E27FC236}">
                <a16:creationId xmlns:a16="http://schemas.microsoft.com/office/drawing/2014/main" id="{8CCEE398-A993-E666-4461-1DBD50FA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Laravel permet d'envoyer des notifications par le biais de divers canaux de livraison, notamment les courriels, les SMS (via </a:t>
            </a:r>
            <a:r>
              <a:rPr lang="fr-FR" sz="2800" b="1" dirty="0" err="1"/>
              <a:t>Vonage</a:t>
            </a:r>
            <a:r>
              <a:rPr lang="fr-FR" sz="2800" dirty="0"/>
              <a:t>, anciennement connu sous le nom de </a:t>
            </a:r>
            <a:r>
              <a:rPr lang="fr-FR" sz="2800" b="1" dirty="0" err="1"/>
              <a:t>Nexmo</a:t>
            </a:r>
            <a:r>
              <a:rPr lang="fr-FR" sz="2800" dirty="0"/>
              <a:t>) et </a:t>
            </a:r>
            <a:r>
              <a:rPr lang="fr-FR" sz="2800" b="1" dirty="0"/>
              <a:t>Slack</a:t>
            </a:r>
            <a:r>
              <a:rPr lang="fr-FR" sz="2800" dirty="0"/>
              <a:t>. En outre, une variété de canaux de notification construits par la communauté a été créée pour envoyer des notifications sur des dizaines de canaux différents ! Les notifications peuvent également être stockées dans une base de données afin d'être affichées dans votre interface web.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2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0C14305-D4B5-791A-EC4C-C37BAB1A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Types de notifications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F4C08-41BA-A3FD-2920-5A7C2D09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79E6812-DF0E-4B88-AFAA-EAC7168F54C0}" type="slidenum">
              <a:rPr lang="en-US" smtClean="0"/>
              <a:pPr algn="ctr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Types de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Il existe plusieurs types de notifications: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par courrier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de courrier </a:t>
            </a:r>
            <a:r>
              <a:rPr lang="fr-FR" sz="2800" dirty="0" err="1"/>
              <a:t>Markdown</a:t>
            </a:r>
            <a:endParaRPr lang="fr-FR" sz="2800" dirty="0"/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de la base de données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de diffusion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par SMS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Notifications Slack</a:t>
            </a:r>
          </a:p>
          <a:p>
            <a:pPr marL="625475" indent="-457200">
              <a:buFont typeface="Wingdings" panose="05000000000000000000" pitchFamily="2" charset="2"/>
              <a:buChar char="§"/>
            </a:pPr>
            <a:r>
              <a:rPr lang="fr-FR" sz="2800" dirty="0"/>
              <a:t>…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5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0C14305-D4B5-791A-EC4C-C37BAB1A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 err="1"/>
              <a:t>Génération</a:t>
            </a:r>
            <a:r>
              <a:rPr lang="en-US" sz="7200" dirty="0"/>
              <a:t> de notifications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F4C08-41BA-A3FD-2920-5A7C2D09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79E6812-DF0E-4B88-AFAA-EAC7168F54C0}" type="slidenum">
              <a:rPr lang="en-US" smtClean="0"/>
              <a:pPr algn="ctr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8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Génération de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Dans Laravel, chaque notification est représentée par une classe unique qui est généralement stockée dans le répertoire </a:t>
            </a:r>
            <a:r>
              <a:rPr lang="fr-FR" sz="2800" b="1" dirty="0"/>
              <a:t>app/Notifications</a:t>
            </a:r>
            <a:r>
              <a:rPr lang="fr-FR" sz="2800" dirty="0"/>
              <a:t>. Ne vous inquiétez pas si vous ne voyez pas ce répertoire dans votre application - il sera créé pour vous lorsque vous exécuterez la commande </a:t>
            </a:r>
            <a:r>
              <a:rPr lang="fr-FR" sz="2800" b="1" dirty="0"/>
              <a:t>Artisan </a:t>
            </a:r>
            <a:r>
              <a:rPr lang="fr-FR" sz="2800" b="1" dirty="0" err="1"/>
              <a:t>make:notification</a:t>
            </a:r>
            <a:r>
              <a:rPr lang="fr-FR" sz="2800" b="1" dirty="0"/>
              <a:t> </a:t>
            </a:r>
            <a:r>
              <a:rPr lang="fr-FR" sz="2800" dirty="0"/>
              <a:t>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154F68B-8A0D-5BCD-B81E-5B0E2F04228C}"/>
              </a:ext>
            </a:extLst>
          </p:cNvPr>
          <p:cNvSpPr txBox="1"/>
          <p:nvPr/>
        </p:nvSpPr>
        <p:spPr>
          <a:xfrm>
            <a:off x="673769" y="4543744"/>
            <a:ext cx="10443410" cy="523220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r>
              <a:rPr lang="en-US" sz="2800" b="0" i="0" dirty="0" err="1">
                <a:solidFill>
                  <a:srgbClr val="BFC7D5"/>
                </a:solidFill>
                <a:effectLst/>
                <a:latin typeface="source-code-pro"/>
              </a:rPr>
              <a:t>php</a:t>
            </a:r>
            <a:r>
              <a:rPr lang="en-US" sz="2800" b="0" i="0" dirty="0">
                <a:solidFill>
                  <a:srgbClr val="BFC7D5"/>
                </a:solidFill>
                <a:effectLst/>
                <a:latin typeface="source-code-pro"/>
              </a:rPr>
              <a:t> artisan </a:t>
            </a:r>
            <a:r>
              <a:rPr lang="en-US" sz="2800" b="0" i="0" dirty="0" err="1">
                <a:solidFill>
                  <a:srgbClr val="BFC7D5"/>
                </a:solidFill>
                <a:effectLst/>
                <a:latin typeface="source-code-pro"/>
              </a:rPr>
              <a:t>make:notification</a:t>
            </a:r>
            <a:r>
              <a:rPr lang="en-US" sz="28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800" b="0" i="0" dirty="0" err="1">
                <a:solidFill>
                  <a:srgbClr val="BFC7D5"/>
                </a:solidFill>
                <a:effectLst/>
                <a:latin typeface="source-code-pro"/>
              </a:rPr>
              <a:t>InvoicePaid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271767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Génération de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Cette commande place une nouvelle classe de notification dans votre répertoire </a:t>
            </a:r>
            <a:r>
              <a:rPr lang="fr-FR" sz="2800" b="1" dirty="0"/>
              <a:t>app/Notifications</a:t>
            </a:r>
            <a:r>
              <a:rPr lang="fr-FR" sz="2800" dirty="0"/>
              <a:t>. Chaque classe de notification contient une méthode </a:t>
            </a:r>
            <a:r>
              <a:rPr lang="fr-FR" sz="2800" b="1" dirty="0"/>
              <a:t>via</a:t>
            </a:r>
            <a:r>
              <a:rPr lang="fr-FR" sz="2800" dirty="0"/>
              <a:t> et un nombre variable de méthodes de création de messages, telles que </a:t>
            </a:r>
            <a:r>
              <a:rPr lang="fr-FR" sz="2800" b="1" dirty="0" err="1"/>
              <a:t>toMail</a:t>
            </a:r>
            <a:r>
              <a:rPr lang="fr-FR" sz="2800" dirty="0"/>
              <a:t> ou </a:t>
            </a:r>
            <a:r>
              <a:rPr lang="fr-FR" sz="2800" b="1" dirty="0" err="1"/>
              <a:t>toDatabase</a:t>
            </a:r>
            <a:r>
              <a:rPr lang="fr-FR" sz="2800" dirty="0"/>
              <a:t>, qui convertissent la notification en un message adapté à ce canal particulier.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0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E0C14305-D4B5-791A-EC4C-C37BAB1A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Envoi de notifications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F4C08-41BA-A3FD-2920-5A7C2D09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6616" y="6007608"/>
            <a:ext cx="411480" cy="365125"/>
          </a:xfrm>
        </p:spPr>
        <p:txBody>
          <a:bodyPr vert="horz" lIns="45720" tIns="45720" rIns="4572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79E6812-DF0E-4B88-AFAA-EAC7168F54C0}" type="slidenum">
              <a:rPr lang="en-US" smtClean="0"/>
              <a:pPr algn="ctr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64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Utilisation du trait </a:t>
            </a:r>
            <a:r>
              <a:rPr lang="fr-FR" dirty="0" err="1">
                <a:solidFill>
                  <a:schemeClr val="bg1"/>
                </a:solidFill>
              </a:rPr>
              <a:t>notifiable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Les notifications peuvent être envoyées de deux manières : en utilisant la méthode </a:t>
            </a:r>
            <a:r>
              <a:rPr lang="fr-FR" sz="2800" b="1" dirty="0" err="1"/>
              <a:t>notify</a:t>
            </a:r>
            <a:r>
              <a:rPr lang="fr-FR" sz="2800" dirty="0"/>
              <a:t> du trait </a:t>
            </a:r>
            <a:r>
              <a:rPr lang="fr-FR" sz="2800" b="1" dirty="0" err="1"/>
              <a:t>Notifiable</a:t>
            </a:r>
            <a:r>
              <a:rPr lang="fr-FR" sz="2800" dirty="0"/>
              <a:t> ou en utilisant la façade </a:t>
            </a:r>
            <a:r>
              <a:rPr lang="fr-FR" sz="2800" b="1" dirty="0"/>
              <a:t>Notification</a:t>
            </a:r>
            <a:r>
              <a:rPr lang="fr-FR" sz="2800" dirty="0"/>
              <a:t>. Le trait </a:t>
            </a:r>
            <a:r>
              <a:rPr lang="fr-FR" sz="2800" dirty="0" err="1"/>
              <a:t>Notifiable</a:t>
            </a:r>
            <a:r>
              <a:rPr lang="fr-FR" sz="2800" dirty="0"/>
              <a:t> est inclus par défaut dans le modèle </a:t>
            </a:r>
            <a:r>
              <a:rPr lang="fr-FR" sz="2800" b="1" dirty="0"/>
              <a:t>App\</a:t>
            </a:r>
            <a:r>
              <a:rPr lang="fr-FR" sz="2800" b="1" dirty="0" err="1"/>
              <a:t>Models</a:t>
            </a:r>
            <a:r>
              <a:rPr lang="fr-FR" sz="2800" b="1" dirty="0"/>
              <a:t>\User </a:t>
            </a:r>
            <a:r>
              <a:rPr lang="fr-FR" sz="2800" dirty="0"/>
              <a:t>de votre application :</a:t>
            </a:r>
          </a:p>
          <a:p>
            <a:pPr marL="0" indent="0">
              <a:buNone/>
            </a:pPr>
            <a:endParaRPr lang="fr-FR" sz="2800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50444" y="3235746"/>
            <a:ext cx="10530640" cy="3477875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D3423E"/>
                </a:solidFill>
                <a:effectLst/>
                <a:latin typeface="source-code-pro"/>
              </a:rPr>
              <a:t>&lt;?</a:t>
            </a:r>
            <a:r>
              <a:rPr lang="en-US" sz="2000" b="0" i="0" dirty="0" err="1">
                <a:solidFill>
                  <a:srgbClr val="D3423E"/>
                </a:solidFill>
                <a:effectLst/>
                <a:latin typeface="source-code-pro"/>
              </a:rPr>
              <a:t>php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namespace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App\Models;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Illuminate\Foundation\Auth\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User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as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Authenticatable;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Illuminate\Notifications\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Notifiable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class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FFCB6B"/>
                </a:solidFill>
                <a:effectLst/>
                <a:latin typeface="source-code-pro"/>
              </a:rPr>
              <a:t>User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extends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A9C77D"/>
                </a:solidFill>
                <a:effectLst/>
                <a:latin typeface="source-code-pro"/>
              </a:rPr>
              <a:t>Authenticatable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{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>
              <a:tabLst>
                <a:tab pos="396875" algn="l"/>
              </a:tabLst>
            </a:pP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	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Notifiable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}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18029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Utilisation du trait </a:t>
            </a:r>
            <a:r>
              <a:rPr lang="fr-FR" dirty="0" err="1">
                <a:solidFill>
                  <a:schemeClr val="bg1"/>
                </a:solidFill>
              </a:rPr>
              <a:t>notifiable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La méthode </a:t>
            </a:r>
            <a:r>
              <a:rPr lang="fr-FR" sz="2800" b="1" dirty="0" err="1"/>
              <a:t>notify</a:t>
            </a:r>
            <a:r>
              <a:rPr lang="fr-FR" sz="2800" dirty="0"/>
              <a:t> fournie par ce trait s'attend à recevoir une instance de notification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10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38413" y="3289062"/>
            <a:ext cx="10530640" cy="1015663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App\Notifications\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$user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notify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$invoice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650243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Utilisation de la façade de notification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Vous pouvez également envoyer des notifications via la façade </a:t>
            </a:r>
            <a:r>
              <a:rPr lang="fr-FR" sz="2800" b="1" dirty="0"/>
              <a:t>Notification</a:t>
            </a:r>
            <a:r>
              <a:rPr lang="fr-FR" sz="2800" dirty="0"/>
              <a:t>. Cette approche est utile lorsque vous devez envoyer une notification à plusieurs entités </a:t>
            </a:r>
            <a:r>
              <a:rPr lang="fr-FR" sz="2800" dirty="0" err="1"/>
              <a:t>notifiables</a:t>
            </a:r>
            <a:r>
              <a:rPr lang="fr-FR" sz="2800" dirty="0"/>
              <a:t>, comme une collection d'utilisateurs. Pour envoyer des notifications en utilisant la façade, passez toutes les entités à notifier et l'instance de notification à la méthode </a:t>
            </a:r>
            <a:r>
              <a:rPr lang="fr-FR" sz="2800" b="1" dirty="0" err="1"/>
              <a:t>send</a:t>
            </a:r>
            <a:r>
              <a:rPr lang="fr-FR" sz="2800" dirty="0"/>
              <a:t>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11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86539" y="4594174"/>
            <a:ext cx="10530640" cy="1015663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Illuminate\Support\Facades\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::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send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$users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$invoice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138606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Utilisation de la façade de notification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Vous pouvez également envoyer des notifications immédiatement en utilisant la méthode </a:t>
            </a:r>
            <a:r>
              <a:rPr lang="fr-FR" sz="2800" b="1" dirty="0" err="1"/>
              <a:t>sendNow</a:t>
            </a:r>
            <a:r>
              <a:rPr lang="fr-FR" sz="2800" dirty="0"/>
              <a:t>. Cette méthode enverra la notification immédiatement, même si la notification implémente l'interface </a:t>
            </a:r>
            <a:r>
              <a:rPr lang="fr-FR" sz="2800" b="1" dirty="0" err="1"/>
              <a:t>ShouldQueue</a:t>
            </a:r>
            <a:r>
              <a:rPr lang="fr-FR" sz="2800" dirty="0"/>
              <a:t>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86539" y="4594174"/>
            <a:ext cx="10530640" cy="1015663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::</a:t>
            </a:r>
            <a:r>
              <a:rPr lang="en-US" sz="2000" b="0" i="0" dirty="0" err="1">
                <a:solidFill>
                  <a:srgbClr val="82AAFF"/>
                </a:solidFill>
                <a:effectLst/>
                <a:latin typeface="source-code-pro"/>
              </a:rPr>
              <a:t>sendNow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$developers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DeploymentCompleted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$deployment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</a:p>
          <a:p>
            <a:pPr algn="l"/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2293014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 fontScale="90000"/>
          </a:bodyPr>
          <a:lstStyle/>
          <a:p>
            <a:r>
              <a:rPr lang="fr-FR" dirty="0">
                <a:solidFill>
                  <a:schemeClr val="bg1"/>
                </a:solidFill>
              </a:rPr>
              <a:t>Spécification des canaux de distribution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Chaque classe de notification possède une méthode </a:t>
            </a:r>
            <a:r>
              <a:rPr lang="fr-FR" sz="2800" b="1" dirty="0"/>
              <a:t>via</a:t>
            </a:r>
            <a:r>
              <a:rPr lang="fr-FR" sz="2800" dirty="0"/>
              <a:t> qui détermine sur quels canaux la notification sera délivrée. Les notifications peuvent être envoyées sur les canaux </a:t>
            </a:r>
            <a:r>
              <a:rPr lang="fr-FR" sz="2800" b="1" dirty="0"/>
              <a:t>mail</a:t>
            </a:r>
            <a:r>
              <a:rPr lang="fr-FR" sz="2800" dirty="0"/>
              <a:t>, </a:t>
            </a:r>
            <a:r>
              <a:rPr lang="fr-FR" sz="2800" b="1" dirty="0" err="1"/>
              <a:t>database</a:t>
            </a:r>
            <a:r>
              <a:rPr lang="fr-FR" sz="2800" dirty="0"/>
              <a:t>, </a:t>
            </a:r>
            <a:r>
              <a:rPr lang="fr-FR" sz="2800" b="1" dirty="0"/>
              <a:t>broadcast</a:t>
            </a:r>
            <a:r>
              <a:rPr lang="fr-FR" sz="2800" dirty="0"/>
              <a:t>, </a:t>
            </a:r>
            <a:r>
              <a:rPr lang="fr-FR" sz="2800" b="1" dirty="0" err="1"/>
              <a:t>vonage</a:t>
            </a:r>
            <a:r>
              <a:rPr lang="fr-FR" sz="2800" dirty="0"/>
              <a:t> et </a:t>
            </a:r>
            <a:r>
              <a:rPr lang="fr-FR" sz="2800" b="1" dirty="0" err="1"/>
              <a:t>slack</a:t>
            </a:r>
            <a:r>
              <a:rPr lang="fr-FR" sz="2800" dirty="0"/>
              <a:t>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86539" y="4594174"/>
            <a:ext cx="10530640" cy="1015663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::</a:t>
            </a:r>
            <a:r>
              <a:rPr lang="en-US" sz="2000" b="0" i="0" dirty="0" err="1">
                <a:solidFill>
                  <a:srgbClr val="82AAFF"/>
                </a:solidFill>
                <a:effectLst/>
                <a:latin typeface="source-code-pro"/>
              </a:rPr>
              <a:t>sendNow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$developers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DeploymentCompleted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$deployment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</a:p>
          <a:p>
            <a:pPr algn="l"/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144590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 fontScale="90000"/>
          </a:bodyPr>
          <a:lstStyle/>
          <a:p>
            <a:r>
              <a:rPr lang="fr-FR" dirty="0">
                <a:solidFill>
                  <a:schemeClr val="bg1"/>
                </a:solidFill>
              </a:rPr>
              <a:t>Spécification des canaux de distribution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La méthode </a:t>
            </a:r>
            <a:r>
              <a:rPr lang="fr-FR" sz="2800" b="1" dirty="0"/>
              <a:t>via</a:t>
            </a:r>
            <a:r>
              <a:rPr lang="fr-FR" sz="2800" dirty="0"/>
              <a:t> reçoit une instance </a:t>
            </a:r>
            <a:r>
              <a:rPr lang="fr-FR" sz="2800" b="1" dirty="0"/>
              <a:t>$</a:t>
            </a:r>
            <a:r>
              <a:rPr lang="fr-FR" sz="2800" b="1" dirty="0" err="1"/>
              <a:t>notifiable</a:t>
            </a:r>
            <a:r>
              <a:rPr lang="fr-FR" sz="2800" dirty="0"/>
              <a:t>, qui sera une instance de la classe à laquelle la notification est envoyée. Vous pouvez utiliser </a:t>
            </a:r>
            <a:r>
              <a:rPr lang="fr-FR" sz="2800" b="1" dirty="0"/>
              <a:t>$</a:t>
            </a:r>
            <a:r>
              <a:rPr lang="fr-FR" sz="2800" b="1" dirty="0" err="1"/>
              <a:t>notifiable</a:t>
            </a:r>
            <a:r>
              <a:rPr lang="fr-FR" sz="2800" b="1" dirty="0"/>
              <a:t> </a:t>
            </a:r>
            <a:r>
              <a:rPr lang="fr-FR" sz="2800" dirty="0"/>
              <a:t>pour déterminer sur quels canaux la notification doit être envoyée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14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610602" y="3978621"/>
            <a:ext cx="10530640" cy="1631216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public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function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via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$notifiable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)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{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>
              <a:tabLst>
                <a:tab pos="517525" algn="l"/>
              </a:tabLst>
            </a:pP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	return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$notifiable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 err="1">
                <a:solidFill>
                  <a:srgbClr val="89DDFF"/>
                </a:solidFill>
                <a:effectLst/>
                <a:latin typeface="source-code-pro"/>
              </a:rPr>
              <a:t>prefers_sms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?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[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 err="1">
                <a:solidFill>
                  <a:srgbClr val="C3E88D"/>
                </a:solidFill>
                <a:effectLst/>
                <a:latin typeface="source-code-pro"/>
              </a:rPr>
              <a:t>vonage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] 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: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[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mail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database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];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}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708081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Mise en file d'attente des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L'envoi de notifications peut prendre du temps, surtout si le canal doit faire un appel à une API externe pour délivrer la notification. Pour accélérer le temps de réponse de votre application, mettez votre notification en file d'attente en ajoutant l'interface </a:t>
            </a:r>
            <a:r>
              <a:rPr lang="fr-FR" sz="2800" b="1" dirty="0" err="1"/>
              <a:t>ShouldQueue</a:t>
            </a:r>
            <a:r>
              <a:rPr lang="fr-FR" sz="2800" dirty="0"/>
              <a:t> et le trait </a:t>
            </a:r>
            <a:r>
              <a:rPr lang="fr-FR" sz="2800" b="1" dirty="0" err="1"/>
              <a:t>Queueable</a:t>
            </a:r>
            <a:r>
              <a:rPr lang="fr-FR" sz="2800" dirty="0"/>
              <a:t> à votre classe.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15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98570" y="4338987"/>
            <a:ext cx="10530640" cy="1938992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class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6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extends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A9C77D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implements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A9C77D"/>
                </a:solidFill>
                <a:effectLst/>
                <a:latin typeface="source-code-pro"/>
              </a:rPr>
              <a:t>ShouldQueue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{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1"/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use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Queueable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1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lvl="1"/>
            <a:r>
              <a:rPr lang="en-US" sz="2000" b="0" i="0" dirty="0">
                <a:solidFill>
                  <a:srgbClr val="697098"/>
                </a:solidFill>
                <a:effectLst/>
                <a:latin typeface="source-code-pro"/>
              </a:rPr>
              <a:t>// ...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}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54959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Mise en file d'attente des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Une fois que l'interface </a:t>
            </a:r>
            <a:r>
              <a:rPr lang="fr-FR" sz="2800" b="1" dirty="0" err="1"/>
              <a:t>ShouldQueue</a:t>
            </a:r>
            <a:r>
              <a:rPr lang="fr-FR" sz="2800" dirty="0"/>
              <a:t> a été ajoutée à votre notification, vous pouvez envoyer la notification comme d'habitude. Laravel détectera l'interface </a:t>
            </a:r>
            <a:r>
              <a:rPr lang="fr-FR" sz="2800" dirty="0" err="1"/>
              <a:t>ShouldQueue</a:t>
            </a:r>
            <a:r>
              <a:rPr lang="fr-FR" sz="2800" dirty="0"/>
              <a:t> sur la classe et mettra automatiquement en file d'attente l'envoi de la notification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16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98570" y="4338987"/>
            <a:ext cx="10530640" cy="400110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$user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notify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$invoice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80844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Retardement des notifications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Si vous souhaitez retarder l'envoi de la notification, vous pouvez chaîner la méthode </a:t>
            </a:r>
            <a:r>
              <a:rPr lang="fr-FR" sz="2800" b="1" dirty="0" err="1"/>
              <a:t>delay</a:t>
            </a:r>
            <a:r>
              <a:rPr lang="fr-FR" sz="2800" dirty="0"/>
              <a:t> à votre instanciation de notification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17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562476" y="3473060"/>
            <a:ext cx="10530640" cy="1015663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$delay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C792EA"/>
                </a:solidFill>
                <a:effectLst/>
                <a:latin typeface="source-code-pro"/>
              </a:rPr>
              <a:t>=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now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()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 err="1">
                <a:solidFill>
                  <a:srgbClr val="82AAFF"/>
                </a:solidFill>
                <a:effectLst/>
                <a:latin typeface="source-code-pro"/>
              </a:rPr>
              <a:t>addMinutes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F78C6C"/>
                </a:solidFill>
                <a:effectLst/>
                <a:latin typeface="source-code-pro"/>
              </a:rPr>
              <a:t>10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algn="l"/>
            <a:r>
              <a:rPr lang="en-US" sz="2000" b="0" i="0" dirty="0">
                <a:solidFill>
                  <a:srgbClr val="232323"/>
                </a:solidFill>
                <a:effectLst/>
                <a:latin typeface="source-code-pro"/>
              </a:rPr>
              <a:t> </a:t>
            </a:r>
          </a:p>
          <a:p>
            <a:pPr algn="l"/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$user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notify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((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$invoice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delay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$delay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1397706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0759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0BE0A16-96B8-E774-498E-C93647B01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64695" y="59387"/>
            <a:ext cx="11742821" cy="1016524"/>
          </a:xfrm>
        </p:spPr>
        <p:txBody>
          <a:bodyPr anchor="ctr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Notifications à la demande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998035-C36F-8ABB-2F38-8F74DD932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264695" y="1248163"/>
            <a:ext cx="11742820" cy="5465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Parfois, vous pouvez avoir besoin d'envoyer une notification à quelqu'un qui n'est pas enregistré comme "utilisateur" de votre application. En utilisant la méthode </a:t>
            </a:r>
            <a:r>
              <a:rPr lang="fr-FR" sz="2800" b="1" dirty="0"/>
              <a:t>route</a:t>
            </a:r>
            <a:r>
              <a:rPr lang="fr-FR" sz="2800" dirty="0"/>
              <a:t> de la façade </a:t>
            </a:r>
            <a:r>
              <a:rPr lang="fr-FR" sz="2800" b="1" dirty="0"/>
              <a:t>Notification</a:t>
            </a:r>
            <a:r>
              <a:rPr lang="fr-FR" sz="2800" dirty="0"/>
              <a:t>, vous pouvez spécifier des informations de routage de notification ad hoc avant d'envoyer la notification :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1D1E11-89F0-6C66-FB60-6635D156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18</a:t>
            </a:fld>
            <a:endParaRPr lang="en-US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1B034F1-E19A-312A-9B6A-689B05B63661}"/>
              </a:ext>
            </a:extLst>
          </p:cNvPr>
          <p:cNvSpPr txBox="1"/>
          <p:nvPr/>
        </p:nvSpPr>
        <p:spPr>
          <a:xfrm>
            <a:off x="454192" y="3834008"/>
            <a:ext cx="10530640" cy="1631216"/>
          </a:xfrm>
          <a:prstGeom prst="rect">
            <a:avLst/>
          </a:prstGeom>
          <a:solidFill>
            <a:srgbClr val="262626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Notification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::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route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mail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taylor@example.com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3"/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route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 err="1">
                <a:solidFill>
                  <a:srgbClr val="C3E88D"/>
                </a:solidFill>
                <a:effectLst/>
                <a:latin typeface="source-code-pro"/>
              </a:rPr>
              <a:t>vonage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5555555555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3"/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route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slack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https://hooks.slack.com/services/...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3"/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route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broadcast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, [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>
                <a:solidFill>
                  <a:srgbClr val="FFCB8B"/>
                </a:solidFill>
                <a:effectLst/>
                <a:latin typeface="source-code-pro"/>
              </a:rPr>
              <a:t>Channel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C3E88D"/>
                </a:solidFill>
                <a:effectLst/>
                <a:latin typeface="source-code-pro"/>
              </a:rPr>
              <a:t>channel-name</a:t>
            </a:r>
            <a:r>
              <a:rPr lang="en-US" sz="2000" b="0" i="0" dirty="0">
                <a:solidFill>
                  <a:srgbClr val="D9F5DD"/>
                </a:solidFill>
                <a:effectLst/>
                <a:latin typeface="source-code-pro"/>
              </a:rPr>
              <a:t>'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)])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  <a:p>
            <a:pPr lvl="3"/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-&gt;</a:t>
            </a:r>
            <a:r>
              <a:rPr lang="en-US" sz="2000" b="0" i="0" dirty="0">
                <a:solidFill>
                  <a:srgbClr val="82AAFF"/>
                </a:solidFill>
                <a:effectLst/>
                <a:latin typeface="source-code-pro"/>
              </a:rPr>
              <a:t>notify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89DDFF"/>
                </a:solidFill>
                <a:effectLst/>
                <a:latin typeface="source-code-pro"/>
              </a:rPr>
              <a:t>new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 </a:t>
            </a:r>
            <a:r>
              <a:rPr lang="en-US" sz="2000" b="0" i="0" dirty="0" err="1">
                <a:solidFill>
                  <a:srgbClr val="FFCB8B"/>
                </a:solidFill>
                <a:effectLst/>
                <a:latin typeface="source-code-pro"/>
              </a:rPr>
              <a:t>InvoicePaid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(</a:t>
            </a:r>
            <a:r>
              <a:rPr lang="en-US" sz="2000" b="0" i="0" dirty="0">
                <a:solidFill>
                  <a:srgbClr val="BEC5D4"/>
                </a:solidFill>
                <a:effectLst/>
                <a:latin typeface="source-code-pro"/>
              </a:rPr>
              <a:t>$invoice</a:t>
            </a:r>
            <a:r>
              <a:rPr lang="en-US" sz="2000" b="0" i="0" dirty="0">
                <a:solidFill>
                  <a:srgbClr val="BFC7D5"/>
                </a:solidFill>
                <a:effectLst/>
                <a:latin typeface="source-code-pro"/>
              </a:rPr>
              <a:t>));</a:t>
            </a:r>
            <a:endParaRPr lang="en-US" sz="2000" b="0" i="0" dirty="0">
              <a:solidFill>
                <a:srgbClr val="232323"/>
              </a:solidFill>
              <a:effectLst/>
              <a:latin typeface="source-code-pro"/>
            </a:endParaRPr>
          </a:p>
        </p:txBody>
      </p:sp>
    </p:spTree>
    <p:extLst>
      <p:ext uri="{BB962C8B-B14F-4D97-AF65-F5344CB8AC3E}">
        <p14:creationId xmlns:p14="http://schemas.microsoft.com/office/powerpoint/2010/main" val="345908855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912</Words>
  <Application>Microsoft Office PowerPoint</Application>
  <PresentationFormat>Grand écran</PresentationFormat>
  <Paragraphs>98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Avenir Next LT Pro</vt:lpstr>
      <vt:lpstr>Calibri</vt:lpstr>
      <vt:lpstr>Sitka Banner</vt:lpstr>
      <vt:lpstr>source-code-pro</vt:lpstr>
      <vt:lpstr>Wingdings</vt:lpstr>
      <vt:lpstr>HeadlinesVTI</vt:lpstr>
      <vt:lpstr>Les Notifications</vt:lpstr>
      <vt:lpstr>Introduction</vt:lpstr>
      <vt:lpstr>Types de notifications</vt:lpstr>
      <vt:lpstr>Types de notifications</vt:lpstr>
      <vt:lpstr>Génération de notifications</vt:lpstr>
      <vt:lpstr>Génération de notifications</vt:lpstr>
      <vt:lpstr>Génération de notifications</vt:lpstr>
      <vt:lpstr>Envoi de notifications</vt:lpstr>
      <vt:lpstr>Utilisation du trait notifiable</vt:lpstr>
      <vt:lpstr>Utilisation du trait notifiable</vt:lpstr>
      <vt:lpstr>Utilisation de la façade de notification</vt:lpstr>
      <vt:lpstr>Utilisation de la façade de notification</vt:lpstr>
      <vt:lpstr>Spécification des canaux de distribution</vt:lpstr>
      <vt:lpstr>Spécification des canaux de distribution</vt:lpstr>
      <vt:lpstr>Mise en file d'attente des notifications</vt:lpstr>
      <vt:lpstr>Mise en file d'attente des notifications</vt:lpstr>
      <vt:lpstr>Retardement des notifications</vt:lpstr>
      <vt:lpstr>Notifications à la demande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Notifications</dc:title>
  <dc:creator>BOUBAKER ADDY</dc:creator>
  <cp:lastModifiedBy>BOUBAKER ADDY</cp:lastModifiedBy>
  <cp:revision>16</cp:revision>
  <dcterms:created xsi:type="dcterms:W3CDTF">2022-12-28T19:05:16Z</dcterms:created>
  <dcterms:modified xsi:type="dcterms:W3CDTF">2025-02-06T06:51:13Z</dcterms:modified>
</cp:coreProperties>
</file>